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8c9c25d0e2884655" /><Relationship Type="http://schemas.openxmlformats.org/officeDocument/2006/relationships/extended-properties" Target="/docProps/app.xml" Id="R4d38da5f3c2d4827" /><Relationship Type="http://schemas.openxmlformats.org/officeDocument/2006/relationships/officeDocument" Target="/ppt/presentation.xml" Id="Rc9b5a191b71d4011" /></Relationships>
</file>

<file path=ppt/presentation.xml><?xml version="1.0" encoding="utf-8"?>
<p:presentation xmlns:p="http://schemas.openxmlformats.org/presentationml/2006/main">
  <p:sldMasterIdLst>
    <p:sldMasterId xmlns:r="http://schemas.openxmlformats.org/officeDocument/2006/relationships" id="2147483648" r:id="R60d63e4c367d4063"/>
  </p:sldMasterIdLst>
  <p:notesMasterIdLst>
    <p:notesMasterId xmlns:r="http://schemas.openxmlformats.org/officeDocument/2006/relationships" r:id="Rcc0591cfdabe44e7"/>
  </p:notesMasterIdLst>
  <p:sldIdLst>
    <p:sldId xmlns:r="http://schemas.openxmlformats.org/officeDocument/2006/relationships" id="256" r:id="R82dd649cab144a57"/>
    <p:sldId xmlns:r="http://schemas.openxmlformats.org/officeDocument/2006/relationships" id="257" r:id="R10092d65f64d4f2e"/>
    <p:sldId xmlns:r="http://schemas.openxmlformats.org/officeDocument/2006/relationships" id="258" r:id="R59d273a3bd4145f2"/>
    <p:sldId xmlns:r="http://schemas.openxmlformats.org/officeDocument/2006/relationships" id="259" r:id="R77304637db8b4050"/>
    <p:sldId xmlns:r="http://schemas.openxmlformats.org/officeDocument/2006/relationships" id="260" r:id="Rec9125b549c54208"/>
    <p:sldId xmlns:r="http://schemas.openxmlformats.org/officeDocument/2006/relationships" id="261" r:id="Re5e76f9786e84dc5"/>
    <p:sldId xmlns:r="http://schemas.openxmlformats.org/officeDocument/2006/relationships" id="262" r:id="R57c39ffbefa24e82"/>
    <p:sldId xmlns:r="http://schemas.openxmlformats.org/officeDocument/2006/relationships" id="263" r:id="R84fc95c6dcc5498c"/>
    <p:sldId xmlns:r="http://schemas.openxmlformats.org/officeDocument/2006/relationships" id="264" r:id="R51c66f5a6833455d"/>
    <p:sldId xmlns:r="http://schemas.openxmlformats.org/officeDocument/2006/relationships" id="265" r:id="R7e1ee59301ca4b98"/>
    <p:sldId xmlns:r="http://schemas.openxmlformats.org/officeDocument/2006/relationships" id="266" r:id="R92af6425e8404dd0"/>
    <p:sldId xmlns:r="http://schemas.openxmlformats.org/officeDocument/2006/relationships" id="267" r:id="R0e6d654f93034703"/>
    <p:sldId xmlns:r="http://schemas.openxmlformats.org/officeDocument/2006/relationships" id="268" r:id="R40d30bcc1cac40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6fb7285f1a4880" /><Relationship Type="http://schemas.openxmlformats.org/officeDocument/2006/relationships/slideMaster" Target="/ppt/slideMasters/slideMaster1.xml" Id="R60d63e4c367d4063" /><Relationship Type="http://schemas.openxmlformats.org/officeDocument/2006/relationships/notesMaster" Target="/ppt/notesMasters/notesMaster1.xml" Id="Rcc0591cfdabe44e7" /><Relationship Type="http://schemas.openxmlformats.org/officeDocument/2006/relationships/presProps" Target="/ppt/presProps.xml" Id="Rc0bb7c89e6244ce9" /><Relationship Type="http://schemas.openxmlformats.org/officeDocument/2006/relationships/tableStyles" Target="/ppt/tableStyles.xml" Id="Rb10e220693ca4fd6" /><Relationship Type="http://schemas.openxmlformats.org/officeDocument/2006/relationships/slide" Target="/ppt/slides/slide1.xml" Id="R82dd649cab144a57" /><Relationship Type="http://schemas.openxmlformats.org/officeDocument/2006/relationships/slide" Target="/ppt/slides/slide2.xml" Id="R10092d65f64d4f2e" /><Relationship Type="http://schemas.openxmlformats.org/officeDocument/2006/relationships/slide" Target="/ppt/slides/slide3.xml" Id="R59d273a3bd4145f2" /><Relationship Type="http://schemas.openxmlformats.org/officeDocument/2006/relationships/slide" Target="/ppt/slides/slide4.xml" Id="R77304637db8b4050" /><Relationship Type="http://schemas.openxmlformats.org/officeDocument/2006/relationships/slide" Target="/ppt/slides/slide5.xml" Id="Rec9125b549c54208" /><Relationship Type="http://schemas.openxmlformats.org/officeDocument/2006/relationships/slide" Target="/ppt/slides/slide6.xml" Id="Re5e76f9786e84dc5" /><Relationship Type="http://schemas.openxmlformats.org/officeDocument/2006/relationships/slide" Target="/ppt/slides/slide7.xml" Id="R57c39ffbefa24e82" /><Relationship Type="http://schemas.openxmlformats.org/officeDocument/2006/relationships/slide" Target="/ppt/slides/slide8.xml" Id="R84fc95c6dcc5498c" /><Relationship Type="http://schemas.openxmlformats.org/officeDocument/2006/relationships/slide" Target="/ppt/slides/slide9.xml" Id="R51c66f5a6833455d" /><Relationship Type="http://schemas.openxmlformats.org/officeDocument/2006/relationships/slide" Target="/ppt/slides/slide10.xml" Id="R7e1ee59301ca4b98" /><Relationship Type="http://schemas.openxmlformats.org/officeDocument/2006/relationships/slide" Target="/ppt/slides/slide11.xml" Id="R92af6425e8404dd0" /><Relationship Type="http://schemas.openxmlformats.org/officeDocument/2006/relationships/slide" Target="/ppt/slides/slide12.xml" Id="R0e6d654f93034703" /><Relationship Type="http://schemas.openxmlformats.org/officeDocument/2006/relationships/slide" Target="/ppt/slides/slide13.xml" Id="R40d30bcc1cac40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608cfc92cc4a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5337b395b94afd" /><Relationship Type="http://schemas.openxmlformats.org/officeDocument/2006/relationships/notesMaster" Target="/ppt/notesMasters/notesMaster1.xml" Id="R84844d3e775b47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0769055e4c4528" /><Relationship Type="http://schemas.openxmlformats.org/officeDocument/2006/relationships/notesMaster" Target="/ppt/notesMasters/notesMaster1.xml" Id="R77f1e4eaa7b44f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9d1a2f21c4455a" /><Relationship Type="http://schemas.openxmlformats.org/officeDocument/2006/relationships/notesMaster" Target="/ppt/notesMasters/notesMaster1.xml" Id="R315b9b8f384f4f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b820120c844b43" /><Relationship Type="http://schemas.openxmlformats.org/officeDocument/2006/relationships/notesMaster" Target="/ppt/notesMasters/notesMaster1.xml" Id="R197f835d9cc04b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853567579243c3" /><Relationship Type="http://schemas.openxmlformats.org/officeDocument/2006/relationships/notesMaster" Target="/ppt/notesMasters/notesMaster1.xml" Id="R4799532f24b44b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16b3de4c9e4224" /><Relationship Type="http://schemas.openxmlformats.org/officeDocument/2006/relationships/notesMaster" Target="/ppt/notesMasters/notesMaster1.xml" Id="R76e6f3a4581a4c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20f8e59b0f4aa5" /><Relationship Type="http://schemas.openxmlformats.org/officeDocument/2006/relationships/notesMaster" Target="/ppt/notesMasters/notesMaster1.xml" Id="Rf09ae1d42e7e41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3d0ea9e0ab470f" /><Relationship Type="http://schemas.openxmlformats.org/officeDocument/2006/relationships/notesMaster" Target="/ppt/notesMasters/notesMaster1.xml" Id="R3ce7f906039141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0291ddea1948d1" /><Relationship Type="http://schemas.openxmlformats.org/officeDocument/2006/relationships/notesMaster" Target="/ppt/notesMasters/notesMaster1.xml" Id="R04438988f63142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6b320a32ed4f22" /><Relationship Type="http://schemas.openxmlformats.org/officeDocument/2006/relationships/notesMaster" Target="/ppt/notesMasters/notesMaster1.xml" Id="Rfca499475b1648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5b81c1ad96423c" /><Relationship Type="http://schemas.openxmlformats.org/officeDocument/2006/relationships/notesMaster" Target="/ppt/notesMasters/notesMaster1.xml" Id="Rc1e7d08418e948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164b22dfd8466d" /><Relationship Type="http://schemas.openxmlformats.org/officeDocument/2006/relationships/notesMaster" Target="/ppt/notesMasters/notesMaster1.xml" Id="R4daea911d0b640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8f8112102f4abb" /><Relationship Type="http://schemas.openxmlformats.org/officeDocument/2006/relationships/notesMaster" Target="/ppt/notesMasters/notesMaster1.xml" Id="Rfb540b87750c4d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Core 0:00–0:25.</a:t>
            </a:r>
          </a:p>
          <a:p xmlns:a="http://schemas.openxmlformats.org/drawingml/2006/main">
            <a:r>
              <a:t>Stand facing the judges. Start the timer on the first spoken word.</a:t>
            </a:r>
          </a:p>
          <a:p xmlns:a="http://schemas.openxmlformats.org/drawingml/2006/main">
            <a:r>
              <a:t/>
            </a:r>
          </a:p>
          <a:p xmlns:a="http://schemas.openxmlformats.org/drawingml/2006/main">
            <a:r>
              <a:t>SPOKEN SCRIPT</a:t>
            </a:r>
          </a:p>
          <a:p xmlns:a="http://schemas.openxmlformats.org/drawingml/2006/main">
            <a:r>
              <a:t>Imagine organizing a hackathon. You have a venue and a challenge, but you still need people who want to build, mentors who can help, and speakers who fit the topic. Meanwhile, those people are searching for the right opportunity. We are a team of four, and we built GEvents to connect both sides.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Core 0:25–1:05.</a:t>
            </a:r>
          </a:p>
          <a:p xmlns:a="http://schemas.openxmlformats.org/drawingml/2006/main">
            <a:r>
              <a:t>Point once to each side. Keep the focus on the buyer's problem.</a:t>
            </a:r>
          </a:p>
          <a:p xmlns:a="http://schemas.openxmlformats.org/drawingml/2006/main">
            <a:r>
              <a:t/>
            </a:r>
          </a:p>
          <a:p xmlns:a="http://schemas.openxmlformats.org/drawingml/2006/main">
            <a:r>
              <a:t>SPOKEN SCRIPT</a:t>
            </a:r>
          </a:p>
          <a:p xmlns:a="http://schemas.openxmlformats.org/drawingml/2006/main">
            <a:r>
              <a:t>Our problem is a mismatch between opportunities and people. An organizer needs relevant expertise and people who actually want to contribute. A person needs an event that suits their interests, availability and goals. Browsing a long list does not answer either question. Our first target is organizations running recurring professional and educational events, including communities like GDG. Participants, speakers, mentors and judges use GEvents. The organization is our proposed paying customer because it benefits from less recruitment work and more suitable participation.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Core 1:05–2:05.</a:t>
            </a:r>
          </a:p>
          <a:p xmlns:a="http://schemas.openxmlformats.org/drawingml/2006/main">
            <a:r>
              <a:t>Slow down on eligibility versus relevance. This is the central technical explanation.</a:t>
            </a:r>
          </a:p>
          <a:p xmlns:a="http://schemas.openxmlformats.org/drawingml/2006/main">
            <a:r>
              <a:t/>
            </a:r>
          </a:p>
          <a:p xmlns:a="http://schemas.openxmlformats.org/drawingml/2006/main">
            <a:r>
              <a:t>SPOKEN SCRIPT</a:t>
            </a:r>
          </a:p>
          <a:p xmlns:a="http://schemas.openxmlformats.org/drawingml/2006/main">
            <a:r>
              <a:t>The matchmaking algorithm is the core of GEvents. It connects a person's profile with an event's purpose and requirements, in both discovery and recruitment. First, we check eligibility, such as required skills and registration dates. Then we rank relevance using interests, experience, goals and roles. The semantic pipeline uses Google EmbeddingGemma to compare meaning beyond identical words. Crucially, skills someone has and skills they want to learn stay separate. A beginner can fit a learning workshop without qualifying to mentor it. We explain recommendations, and people and organizers make the final decision. If nothing is suitable, the right answer is no match. A similarity score never guarantees admission.</a:t>
            </a:r>
          </a:p>
          <a:p xmlns:a="http://schemas.openxmlformats.org/drawingml/2006/main">
            <a:r>
              <a:t/>
            </a:r>
          </a:p>
          <a:p xmlns:a="http://schemas.openxmlformats.org/drawingml/2006/main">
            <a:r>
              <a:t>OPTIONAL EXPANSION (+15 seconds)</a:t>
            </a:r>
          </a:p>
          <a:p xmlns:a="http://schemas.openxmlformats.org/drawingml/2006/main">
            <a:r>
              <a:t>A speaker needs relevant expertise and willingness to speak. A participant looking to learn has a different goal. We will validate both with organizers.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Core 2:05–3:50.</a:t>
            </a:r>
          </a:p>
          <a:p xmlns:a="http://schemas.openxmlformats.org/drawingml/2006/main">
            <a:r>
              <a:t>Play the embedded video once, or switch to the prepared live tour. Narrate over the silent recording. Do not play video and then repeat the live demo.</a:t>
            </a:r>
          </a:p>
          <a:p xmlns:a="http://schemas.openxmlformats.org/drawingml/2006/main">
            <a:r>
              <a:t/>
            </a:r>
          </a:p>
          <a:p xmlns:a="http://schemas.openxmlformats.org/drawingml/2006/main">
            <a:r>
              <a:t>SPOKEN SCRIPT</a:t>
            </a:r>
          </a:p>
          <a:p xmlns:a="http://schemas.openxmlformats.org/drawingml/2006/main">
            <a:r>
              <a:t>[Video 00:00–00:04] Here is the working application.</a:t>
            </a:r>
          </a:p>
          <a:p xmlns:a="http://schemas.openxmlformats.org/drawingml/2006/main">
            <a:r>
              <a:t/>
            </a:r>
          </a:p>
          <a:p xmlns:a="http://schemas.openxmlformats.org/drawingml/2006/main">
            <a:r>
              <a:t>[Video 00:04–00:12] The home page brings event discovery and your team into one place. The tour highlights the actual interface.</a:t>
            </a:r>
          </a:p>
          <a:p xmlns:a="http://schemas.openxmlformats.org/drawingml/2006/main">
            <a:r>
              <a:t/>
            </a:r>
          </a:p>
          <a:p xmlns:a="http://schemas.openxmlformats.org/drawingml/2006/main">
            <a:r>
              <a:t>[Video 00:12–00:22] Matching starts with the profile. Existing skills describe what you can contribute. Learning interests describe what you want to gain.</a:t>
            </a:r>
          </a:p>
          <a:p xmlns:a="http://schemas.openxmlformats.org/drawingml/2006/main">
            <a:r>
              <a:t/>
            </a:r>
          </a:p>
          <a:p xmlns:a="http://schemas.openxmlformats.org/drawingml/2006/main">
            <a:r>
              <a:t>[Video 00:22–00:30] You also choose how to join: as a participant, mentor, speaker or judge. Participation means different things to different people.</a:t>
            </a:r>
          </a:p>
          <a:p xmlns:a="http://schemas.openxmlformats.org/drawingml/2006/main">
            <a:r>
              <a:t/>
            </a:r>
          </a:p>
          <a:p xmlns:a="http://schemas.openxmlformats.org/drawingml/2006/main">
            <a:r>
              <a:t>[Video 00:30–00:42] For you narrows the list to suitable opportunities. This recording uses structured demo recommendations. We tested the Google semantic models separately, using real local inference.</a:t>
            </a:r>
          </a:p>
          <a:p xmlns:a="http://schemas.openxmlformats.org/drawingml/2006/main">
            <a:r>
              <a:t/>
            </a:r>
          </a:p>
          <a:p xmlns:a="http://schemas.openxmlformats.org/drawingml/2006/main">
            <a:r>
              <a:t>[Video 00:42–00:52] Each recommendation gives concrete reasons. The person can inspect the fit, rather than trusting an unexplained number. Requirements still apply.</a:t>
            </a:r>
          </a:p>
          <a:p xmlns:a="http://schemas.openxmlformats.org/drawingml/2006/main">
            <a:r>
              <a:t/>
            </a:r>
          </a:p>
          <a:p xmlns:a="http://schemas.openxmlformats.org/drawingml/2006/main">
            <a:r>
              <a:t>[Video 00:52–01:00] People can also browse all events and use filters. They remain free to explore outside their personal recommendations.</a:t>
            </a:r>
          </a:p>
          <a:p xmlns:a="http://schemas.openxmlformats.org/drawingml/2006/main">
            <a:r>
              <a:t/>
            </a:r>
          </a:p>
          <a:p xmlns:a="http://schemas.openxmlformats.org/drawingml/2006/main">
            <a:r>
              <a:t>[Video 01:00–01:10] Team spaces support collaboration around an event. The semantic candidate integration can search for missing capabilities when its service is connected.</a:t>
            </a:r>
          </a:p>
          <a:p xmlns:a="http://schemas.openxmlformats.org/drawingml/2006/main">
            <a:r>
              <a:t/>
            </a:r>
          </a:p>
          <a:p xmlns:a="http://schemas.openxmlformats.org/drawingml/2006/main">
            <a:r>
              <a:t>[Video 01:10–01:22] Now the organization's view. Organizers define the opportunity and manage it. Configured publication invitations reach suitable people who opted in. This tour does not send anything.</a:t>
            </a:r>
          </a:p>
          <a:p xmlns:a="http://schemas.openxmlformats.org/drawingml/2006/main">
            <a:r>
              <a:t/>
            </a:r>
          </a:p>
          <a:p xmlns:a="http://schemas.openxmlformats.org/drawingml/2006/main">
            <a:r>
              <a:t>[Video 01:22–01:34] Applications identify the role someone wants. Organizers control admission and capacity. An invitation, an accepted invitation and event admission represent different decisions.</a:t>
            </a:r>
          </a:p>
          <a:p xmlns:a="http://schemas.openxmlformats.org/drawingml/2006/main">
            <a:r>
              <a:t/>
            </a:r>
          </a:p>
          <a:p xmlns:a="http://schemas.openxmlformats.org/drawingml/2006/main">
            <a:r>
              <a:t>[Video 01:34–01:45] My activity brings those decisions together. That is the complete product loop: discover a relevant opportunity, choose a role, and track the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Core 3:50–4:30.</a:t>
            </a:r>
          </a:p>
          <a:p xmlns:a="http://schemas.openxmlformats.org/drawingml/2006/main">
            <a:r>
              <a:t>Say 'diagnostic checks', never '100 percent accurate'. Replace the research paragraph only after real evidence is supplied.</a:t>
            </a:r>
          </a:p>
          <a:p xmlns:a="http://schemas.openxmlformats.org/drawingml/2006/main">
            <a:r>
              <a:t/>
            </a:r>
          </a:p>
          <a:p xmlns:a="http://schemas.openxmlformats.org/drawingml/2006/main">
            <a:r>
              <a:t>SPOKEN SCRIPT</a:t>
            </a:r>
          </a:p>
          <a:p xmlns:a="http://schemas.openxmlformats.org/drawingml/2006/main">
            <a:r>
              <a:t>During implementation, we found a real problem: semantic similarity still returned weak recommendations, and extraction sometimes invented restrictions. We added source-grounded checks and a relevance gate. Our local evaluation then passed fifty diagnostic checks across seven fictional profiles and two synthetic events. That is technical evidence, not population-wide accuracy. We have not completed real-user interviews yet. Our first organizer pilot will measure useful shortlists, time saved and accepted invitations, then use that feedback to improve matching.</a:t>
            </a:r>
          </a:p>
          <a:p xmlns:a="http://schemas.openxmlformats.org/drawingml/2006/main">
            <a:r>
              <a:t/>
            </a:r>
          </a:p>
          <a:p xmlns:a="http://schemas.openxmlformats.org/drawingml/2006/main">
            <a:r>
              <a:t>OPTIONAL EXPANSION (+10 seconds)</a:t>
            </a:r>
          </a:p>
          <a:p xmlns:a="http://schemas.openxmlformats.org/drawingml/2006/main">
            <a:r>
              <a:t>Wanting to learn React did not satisfy an event's requirement for acquired React skills. Eligibility remained separate from relevance.</a:t>
            </a:r>
          </a:p>
          <a:p xmlns:a="http://schemas.openxmlformats.org/drawingml/2006/main">
            <a:r>
              <a:t/>
            </a:r>
          </a:p>
          <a:p xmlns:a="http://schemas.openxmlformats.org/drawingml/2006/main">
            <a:r>
              <a:t>SOURCES AND EVIDENCE</a:t>
            </a:r>
          </a:p>
          <a:p xmlns:a="http://schemas.openxmlformats.org/drawingml/2006/main">
            <a:r>
              <a:t>docs/local-matching-evaluation-2026-10-11.md</a:t>
            </a:r>
          </a:p>
          <a:p xmlns:a="http://schemas.openxmlformats.org/drawingml/2006/main">
            <a:r>
              <a:t>User confirmed interviews will be supplied later, 11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Core 4:30–5:05.</a:t>
            </a:r>
          </a:p>
          <a:p xmlns:a="http://schemas.openxmlformats.org/drawingml/2006/main">
            <a:r>
              <a:t>Distinguish the architecture from deployment status. Do not claim tested scale.</a:t>
            </a:r>
          </a:p>
          <a:p xmlns:a="http://schemas.openxmlformats.org/drawingml/2006/main">
            <a:r>
              <a:t/>
            </a:r>
          </a:p>
          <a:p xmlns:a="http://schemas.openxmlformats.org/drawingml/2006/main">
            <a:r>
              <a:t>SPOKEN SCRIPT</a:t>
            </a:r>
          </a:p>
          <a:p xmlns:a="http://schemas.openxmlformats.org/drawingml/2006/main">
            <a:r>
              <a:t>The React application uses an authenticated Node API. Firebase handles identity and canonical data, with private storage for CVs. Gemma supports reviewed extraction, and EmbeddingGemma supplies retrieval vectors. The API enforces permissions and eligibility after matching. These components exist in code, with local model evidence. Cloud deployment remains to verify. This is a bounded pilot. Cached embeddings and indexed retrieval support growth, but production latency, concurrent load and costs still need measurement.</a:t>
            </a:r>
          </a:p>
          <a:p xmlns:a="http://schemas.openxmlformats.org/drawingml/2006/main">
            <a:r>
              <a:t/>
            </a:r>
          </a:p>
          <a:p xmlns:a="http://schemas.openxmlformats.org/drawingml/2006/main">
            <a:r>
              <a:t>SOURCES AND EVIDENCE</a:t>
            </a:r>
          </a:p>
          <a:p xmlns:a="http://schemas.openxmlformats.org/drawingml/2006/main">
            <a:r>
              <a:t>docs/gemma-matching.md</a:t>
            </a:r>
          </a:p>
          <a:p xmlns:a="http://schemas.openxmlformats.org/drawingml/2006/main">
            <a:r>
              <a:t>README.md</a:t>
            </a:r>
          </a:p>
          <a:p xmlns:a="http://schemas.openxmlformats.org/drawingml/2006/main">
            <a:r>
              <a:t>docs/local-matching-evaluation-2026-10-11.md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Core 5:05–5:30.</a:t>
            </a:r>
          </a:p>
          <a:p xmlns:a="http://schemas.openxmlformats.org/drawingml/2006/main">
            <a:r>
              <a:t>Acknowledge competition directly. Present the distinction as the focus we will validate.</a:t>
            </a:r>
          </a:p>
          <a:p xmlns:a="http://schemas.openxmlformats.org/drawingml/2006/main">
            <a:r>
              <a:t/>
            </a:r>
          </a:p>
          <a:p xmlns:a="http://schemas.openxmlformats.org/drawingml/2006/main">
            <a:r>
              <a:t>SPOKEN SCRIPT</a:t>
            </a:r>
          </a:p>
          <a:p xmlns:a="http://schemas.openxmlformats.org/drawingml/2006/main">
            <a:r>
              <a:t>We researched existing products. Brella and Swapcard already offer event matchmaking, so AI alone is not our differentiation. Our proposed focus is finding people for opportunities before the event, and helping those people discover suitable events across a community. Reusable profiles can make each following event easier to organize.</a:t>
            </a:r>
          </a:p>
          <a:p xmlns:a="http://schemas.openxmlformats.org/drawingml/2006/main">
            <a:r>
              <a:t/>
            </a:r>
          </a:p>
          <a:p xmlns:a="http://schemas.openxmlformats.org/drawingml/2006/main">
            <a:r>
              <a:t>SOURCES AND EVIDENCE</a:t>
            </a:r>
          </a:p>
          <a:p xmlns:a="http://schemas.openxmlformats.org/drawingml/2006/main">
            <a:r>
              <a:t>https://www.brella.io/event-matchmaking</a:t>
            </a:r>
          </a:p>
          <a:p xmlns:a="http://schemas.openxmlformats.org/drawingml/2006/main">
            <a:r>
              <a:t>https://help.swapcard.com/en/articles/11985775-how-to-set-up-a-hosted-buyer-event</a:t>
            </a:r>
          </a:p>
          <a:p xmlns:a="http://schemas.openxmlformats.org/drawingml/2006/main">
            <a:r>
              <a:t>https://www.swapcard.com/pricing-plans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Core 5:30–6:10.</a:t>
            </a:r>
          </a:p>
          <a:p xmlns:a="http://schemas.openxmlformats.org/drawingml/2006/main">
            <a:r>
              <a:t>Point to 'hypotheses'. Do not imply payments or subscriptions are implemented.</a:t>
            </a:r>
          </a:p>
          <a:p xmlns:a="http://schemas.openxmlformats.org/drawingml/2006/main">
            <a:r>
              <a:t/>
            </a:r>
          </a:p>
          <a:p xmlns:a="http://schemas.openxmlformats.org/drawingml/2006/main">
            <a:r>
              <a:t>SPOKEN SCRIPT</a:t>
            </a:r>
          </a:p>
          <a:p xmlns:a="http://schemas.openxmlformats.org/drawingml/2006/main">
            <a:r>
              <a:t>Our proposed model keeps access free for people and charges organizations. We would start with a predictable event package, then offer subscriptions for recurring organizers. For illustration, a one-hundred-and-forty-nine-euro package for up to two hundred people would generate seventeen thousand eight hundred and eighty euros annually if twenty organizations ran six events each. These are assumptions, not customers or a forecast. Costs include model inference, hosting, support, acquisition and engineering. We will validate willingness to pay and contribution margin before fixing the price.</a:t>
            </a:r>
          </a:p>
          <a:p xmlns:a="http://schemas.openxmlformats.org/drawingml/2006/main">
            <a:r>
              <a:t/>
            </a:r>
          </a:p>
          <a:p xmlns:a="http://schemas.openxmlformats.org/drawingml/2006/main">
            <a:r>
              <a:t>OPTIONAL EXPANSION (+20 seconds)</a:t>
            </a:r>
          </a:p>
          <a:p xmlns:a="http://schemas.openxmlformats.org/drawingml/2006/main">
            <a:r>
              <a:t>We also considered charging per confirmed person. It aligns with an outcome, but creates questions about no-shows and people the organizer recruited independently. A capped event package is easier to budget. A success fee could later apply to clearly attributed new introductions.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Core 6:10–6:30.</a:t>
            </a:r>
          </a:p>
          <a:p xmlns:a="http://schemas.openxmlformats.org/drawingml/2006/main">
            <a:r>
              <a:t>Keep expansion concrete. Avoid unsupported market-size numbers.</a:t>
            </a:r>
          </a:p>
          <a:p xmlns:a="http://schemas.openxmlformats.org/drawingml/2006/main">
            <a:r>
              <a:t/>
            </a:r>
          </a:p>
          <a:p xmlns:a="http://schemas.openxmlformats.org/drawingml/2006/main">
            <a:r>
              <a:t>SPOKEN SCRIPT</a:t>
            </a:r>
          </a:p>
          <a:p xmlns:a="http://schemas.openxmlformats.org/drawingml/2006/main">
            <a:r>
              <a:t>We start with recurring professional and educational communities, where the same organization recruits repeatedly. Beyond Belgrade, expansion means onboarding trusted organizers and relevant people in each market. Our next milestone is a real pilot that validates matching quality and organizational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Core 6:30–6:45.</a:t>
            </a:r>
          </a:p>
          <a:p xmlns:a="http://schemas.openxmlformats.org/drawingml/2006/main">
            <a:r>
              <a:t>Stop at 6:45 in the core run, or about 7:30 with the optional lines. Stay on this slide for questions.</a:t>
            </a:r>
          </a:p>
          <a:p xmlns:a="http://schemas.openxmlformats.org/drawingml/2006/main">
            <a:r>
              <a:t/>
            </a:r>
          </a:p>
          <a:p xmlns:a="http://schemas.openxmlformats.org/drawingml/2006/main">
            <a:r>
              <a:t>SPOKEN SCRIPT</a:t>
            </a:r>
          </a:p>
          <a:p xmlns:a="http://schemas.openxmlformats.org/drawingml/2006/main">
            <a:r>
              <a:t>GEvents connects what an event needs with what a person can contribute and wants to gain. Our next step is to prove that value with organizers.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to slide 4. Existing skills and learning goals are distinct. This screenshot uses a fictional profile.</a:t>
            </a:r>
          </a:p>
          <a:p xmlns:a="http://schemas.openxmlformats.org/drawingml/2006/main">
            <a:r>
              <a:t>For normal delivery, stop at slide 10. These appendix slides are not additional timed pitch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to slide 4. Explain the visible reasons and eligibility checks. This screenshot uses structured demo recommendations.</a:t>
            </a:r>
          </a:p>
          <a:p xmlns:a="http://schemas.openxmlformats.org/drawingml/2006/main">
            <a:r>
              <a:t>For normal delivery, stop at slide 10. These appendix slides are not additional timed pitch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to slide 4. The organization reviews role-specific applications. No admission actions were performed during recording.</a:t>
            </a:r>
          </a:p>
          <a:p xmlns:a="http://schemas.openxmlformats.org/drawingml/2006/main">
            <a:r>
              <a:t>For normal delivery, stop at slide 10. These appendix slides are not additional timed pitch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1b11945c6046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cd44780ebf4a6f" /><Relationship Type="http://schemas.openxmlformats.org/officeDocument/2006/relationships/slideLayout" Target="/ppt/slideLayouts/slideLayout1.xml" Id="Ra3056465329644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056465329644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32fd6360584628" /><Relationship Type="http://schemas.openxmlformats.org/officeDocument/2006/relationships/image" Target="/ppt/media/image.png" Id="R5896276a0e704c05" /><Relationship Type="http://schemas.openxmlformats.org/officeDocument/2006/relationships/notesSlide" Target="/ppt/notesSlides/notesSlide1.xml" Id="R43098c838ab74c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f8a119170e4356" /><Relationship Type="http://schemas.openxmlformats.org/officeDocument/2006/relationships/notesSlide" Target="/ppt/notesSlides/notesSlide2.xml" Id="R13daf3d1110149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3a150159bc4f6d" /><Relationship Type="http://schemas.openxmlformats.org/officeDocument/2006/relationships/notesSlide" Target="/ppt/notesSlides/notesSlide3.xml" Id="R8963987a7a17439f" /></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1.xml" Id="R2ef3ff364d4b46c0" /><ns0:Relationship Type="http://schemas.openxmlformats.org/officeDocument/2006/relationships/image" Target="/ppt/media/image2.png" Id="Racdb7b8c6cf54a20" /><ns0:Relationship Type="http://schemas.openxmlformats.org/officeDocument/2006/relationships/notesSlide" Target="/ppt/notesSlides/notesSlide4.xml" Id="Rad5f3a0962114436" /><ns0:Relationship Id="rIdGEventsVideo" Type="http://schemas.openxmlformats.org/officeDocument/2006/relationships/video" Target="../media/gevents-walkthrough.mp4" /><ns0:Relationship Id="rIdGEventsMedia" Type="http://schemas.microsoft.com/office/2007/relationships/media" Target="../media/gevents-walkthrough.mp4" /></ns0: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5c62cb06314646" /><Relationship Type="http://schemas.openxmlformats.org/officeDocument/2006/relationships/notesSlide" Target="/ppt/notesSlides/notesSlide5.xml" Id="R10524ef3f5824c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37d79ad86445e3" /><Relationship Type="http://schemas.openxmlformats.org/officeDocument/2006/relationships/notesSlide" Target="/ppt/notesSlides/notesSlide6.xml" Id="Rcfb604ea16744f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9c3fccd6184f38" /><Relationship Type="http://schemas.openxmlformats.org/officeDocument/2006/relationships/notesSlide" Target="/ppt/notesSlides/notesSlide7.xml" Id="Rbdb26a81767843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b2a0d2b99e4ff4" /><Relationship Type="http://schemas.openxmlformats.org/officeDocument/2006/relationships/notesSlide" Target="/ppt/notesSlides/notesSlide8.xml" Id="Rc6c7f942548843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1a53b2b75b74d84" /><Relationship Type="http://schemas.openxmlformats.org/officeDocument/2006/relationships/notesSlide" Target="/ppt/notesSlides/notesSlide9.xml" Id="Rdd55ea9dc97140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f9b9f5242e34159" /><Relationship Type="http://schemas.openxmlformats.org/officeDocument/2006/relationships/notesSlide" Target="/ppt/notesSlides/notesSlide10.xml" Id="Rfaa3e46442d143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d8030f4eb254d50" /><Relationship Type="http://schemas.openxmlformats.org/officeDocument/2006/relationships/image" Target="/ppt/media/image3.png" Id="Rb9789b673ecf44a5" /><Relationship Type="http://schemas.openxmlformats.org/officeDocument/2006/relationships/notesSlide" Target="/ppt/notesSlides/notesSlide11.xml" Id="Ra38788a4fde94f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b25816c2904e11" /><Relationship Type="http://schemas.openxmlformats.org/officeDocument/2006/relationships/image" Target="/ppt/media/image4.png" Id="Rc723e59278014bd7" /><Relationship Type="http://schemas.openxmlformats.org/officeDocument/2006/relationships/notesSlide" Target="/ppt/notesSlides/notesSlide12.xml" Id="Ra576b347a7f44db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30e496272164a8f" /><Relationship Type="http://schemas.openxmlformats.org/officeDocument/2006/relationships/image" Target="/ppt/media/image5.png" Id="Rd5f5b12aac0a4821" /><Relationship Type="http://schemas.openxmlformats.org/officeDocument/2006/relationships/notesSlide" Target="/ppt/notesSlides/notesSlide13.xml" Id="R4e2da0212785461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896276a0e704c05"/>
          <a:stretch xmlns:a="http://schemas.openxmlformats.org/drawingml/2006/main"/>
        </p:blipFill>
        <p:spPr>
          <a:xfrm xmlns:a="http://schemas.openxmlformats.org/drawingml/2006/main">
            <a:off x="628650" y="895350"/>
            <a:ext cx="952500" cy="952500"/>
          </a:xfrm>
          <a:prstGeom xmlns:a="http://schemas.openxmlformats.org/drawingml/2006/main" prst="rect">
            <a:avLst/>
          </a:prstGeom>
        </p:spPr>
      </p:pic>
      <p:sp>
        <p:nvSpPr>
          <p:cNvPr id="2" name="GEvents">
            <a:extLst xmlns:a="http://schemas.openxmlformats.org/drawingml/2006/main">
              <a:ext uri="{FF2B5EF4-FFF2-40B4-BE49-F238E27FC236}">
                <a16:creationId xmlns:a16="http://schemas.microsoft.com/office/drawing/2014/main" id="{FB73D1BE-F3D2-459A-8558-61D43929EBF5}"/>
              </a:ext>
            </a:extLst>
          </p:cNvPr>
          <p:cNvSpPr>
            <a:spLocks xmlns:a="http://schemas.openxmlformats.org/drawingml/2006/main" noGrp="1"/>
          </p:cNvSpPr>
          <p:nvPr/>
        </p:nvSpPr>
        <p:spPr>
          <a:xfrm xmlns:a="http://schemas.openxmlformats.org/drawingml/2006/main">
            <a:off x="1828800" y="952500"/>
            <a:ext cx="857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750" b="1">
                <a:solidFill>
                  <a:srgbClr val="172335"/>
                </a:solidFill>
                <a:latin typeface="Arial"/>
                <a:ea typeface="Arial"/>
                <a:cs typeface="Arial"/>
              </a:defRPr>
            </a:pPr>
            <a:r>
              <a:rPr sz="6750" b="1">
                <a:solidFill>
                  <a:srgbClr val="172335"/>
                </a:solidFill>
                <a:latin typeface="Arial"/>
                <a:ea typeface="Arial"/>
                <a:cs typeface="Arial"/>
              </a:rPr>
              <a:t>GEvents</a:t>
            </a:r>
          </a:p>
        </p:txBody>
      </p:sp>
      <p:sp>
        <p:nvSpPr>
          <p:cNvPr id="3" name="The right people for events.&#10;The right events">
            <a:extLst xmlns:a="http://schemas.openxmlformats.org/drawingml/2006/main">
              <a:ext uri="{FF2B5EF4-FFF2-40B4-BE49-F238E27FC236}">
                <a16:creationId xmlns:a16="http://schemas.microsoft.com/office/drawing/2014/main" id="{338ED038-C984-46A5-A5B6-5660C6EC1398}"/>
              </a:ext>
            </a:extLst>
          </p:cNvPr>
          <p:cNvSpPr>
            <a:spLocks xmlns:a="http://schemas.openxmlformats.org/drawingml/2006/main" noGrp="1"/>
          </p:cNvSpPr>
          <p:nvPr/>
        </p:nvSpPr>
        <p:spPr>
          <a:xfrm xmlns:a="http://schemas.openxmlformats.org/drawingml/2006/main">
            <a:off x="628650" y="2905125"/>
            <a:ext cx="1095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75" b="1">
                <a:solidFill>
                  <a:srgbClr val="172335"/>
                </a:solidFill>
                <a:latin typeface="Arial"/>
                <a:ea typeface="Arial"/>
                <a:cs typeface="Arial"/>
              </a:defRPr>
            </a:pPr>
            <a:r>
              <a:rPr sz="4275" b="1">
                <a:solidFill>
                  <a:srgbClr val="172335"/>
                </a:solidFill>
                <a:latin typeface="Arial"/>
                <a:ea typeface="Arial"/>
                <a:cs typeface="Arial"/>
              </a:rPr>
              <a:t>The right people for events.</a:t>
            </a:r>
          </a:p>
          <a:p xmlns:a="http://schemas.openxmlformats.org/drawingml/2006/main">
            <a:pPr>
              <a:defRPr sz="4275" b="1">
                <a:solidFill>
                  <a:srgbClr val="172335"/>
                </a:solidFill>
                <a:latin typeface="Arial"/>
                <a:ea typeface="Arial"/>
                <a:cs typeface="Arial"/>
              </a:defRPr>
            </a:pPr>
            <a:r>
              <a:rPr sz="4275" b="1">
                <a:solidFill>
                  <a:srgbClr val="172335"/>
                </a:solidFill>
                <a:latin typeface="Arial"/>
                <a:ea typeface="Arial"/>
                <a:cs typeface="Arial"/>
              </a:rPr>
              <a:t>The right events for people.</a:t>
            </a:r>
          </a:p>
        </p:txBody>
      </p:sp>
      <p:sp>
        <p:nvSpPr>
          <p:cNvPr id="4" name="GDG Belgrade hackathon">
            <a:extLst xmlns:a="http://schemas.openxmlformats.org/drawingml/2006/main">
              <a:ext uri="{FF2B5EF4-FFF2-40B4-BE49-F238E27FC236}">
                <a16:creationId xmlns:a16="http://schemas.microsoft.com/office/drawing/2014/main" id="{3EE38A98-E3FA-4941-8630-3D40BD62BC16}"/>
              </a:ext>
            </a:extLst>
          </p:cNvPr>
          <p:cNvSpPr>
            <a:spLocks xmlns:a="http://schemas.openxmlformats.org/drawingml/2006/main" noGrp="1"/>
          </p:cNvSpPr>
          <p:nvPr/>
        </p:nvSpPr>
        <p:spPr>
          <a:xfrm xmlns:a="http://schemas.openxmlformats.org/drawingml/2006/main">
            <a:off x="62865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26274"/>
                </a:solidFill>
                <a:latin typeface="Arial"/>
                <a:ea typeface="Arial"/>
                <a:cs typeface="Arial"/>
              </a:defRPr>
            </a:pPr>
            <a:r>
              <a:rPr sz="1875" b="0">
                <a:solidFill>
                  <a:srgbClr val="526274"/>
                </a:solidFill>
                <a:latin typeface="Arial"/>
                <a:ea typeface="Arial"/>
                <a:cs typeface="Arial"/>
              </a:rPr>
              <a:t>GDG Belgrade hackathon</a:t>
            </a:r>
          </a:p>
        </p:txBody>
      </p:sp>
    </p:spTree>
    <p:extLst>
      <p:ext uri="{BB962C8B-B14F-4D97-AF65-F5344CB8AC3E}">
        <p14:creationId xmlns:p14="http://schemas.microsoft.com/office/powerpoint/2010/main" val="5399818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inding the right fit takes work">
            <a:extLst xmlns:a="http://schemas.openxmlformats.org/drawingml/2006/main">
              <a:ext uri="{FF2B5EF4-FFF2-40B4-BE49-F238E27FC236}">
                <a16:creationId xmlns:a16="http://schemas.microsoft.com/office/drawing/2014/main" id="{F2938206-5A46-460C-80B8-8FFDD01AC93F}"/>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72335"/>
                </a:solidFill>
                <a:latin typeface="Arial"/>
                <a:ea typeface="Arial"/>
                <a:cs typeface="Arial"/>
              </a:defRPr>
            </a:pPr>
            <a:r>
              <a:rPr sz="3525" b="1">
                <a:solidFill>
                  <a:srgbClr val="172335"/>
                </a:solidFill>
                <a:latin typeface="Arial"/>
                <a:ea typeface="Arial"/>
                <a:cs typeface="Arial"/>
              </a:rPr>
              <a:t>Finding the right fit takes work</a:t>
            </a:r>
          </a:p>
        </p:txBody>
      </p:sp>
      <p:sp>
        <p:nvSpPr>
          <p:cNvPr id="2" name="Organizations">
            <a:extLst xmlns:a="http://schemas.openxmlformats.org/drawingml/2006/main">
              <a:ext uri="{FF2B5EF4-FFF2-40B4-BE49-F238E27FC236}">
                <a16:creationId xmlns:a16="http://schemas.microsoft.com/office/drawing/2014/main" id="{B56D96D0-81F8-496A-A28F-DDD180A5AF3A}"/>
              </a:ext>
            </a:extLst>
          </p:cNvPr>
          <p:cNvSpPr>
            <a:spLocks xmlns:a="http://schemas.openxmlformats.org/drawingml/2006/main" noGrp="1"/>
          </p:cNvSpPr>
          <p:nvPr/>
        </p:nvSpPr>
        <p:spPr>
          <a:xfrm xmlns:a="http://schemas.openxmlformats.org/drawingml/2006/main">
            <a:off x="628650" y="20097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85ABC"/>
                </a:solidFill>
                <a:latin typeface="Arial"/>
                <a:ea typeface="Arial"/>
                <a:cs typeface="Arial"/>
              </a:defRPr>
            </a:pPr>
            <a:r>
              <a:rPr sz="2550" b="1">
                <a:solidFill>
                  <a:srgbClr val="185ABC"/>
                </a:solidFill>
                <a:latin typeface="Arial"/>
                <a:ea typeface="Arial"/>
                <a:cs typeface="Arial"/>
              </a:rPr>
              <a:t>Organizations</a:t>
            </a:r>
          </a:p>
        </p:txBody>
      </p:sp>
      <p:sp>
        <p:nvSpPr>
          <p:cNvPr id="3" name="Suitable people&#10;Across event roles&#10;Less recru">
            <a:extLst xmlns:a="http://schemas.openxmlformats.org/drawingml/2006/main">
              <a:ext uri="{FF2B5EF4-FFF2-40B4-BE49-F238E27FC236}">
                <a16:creationId xmlns:a16="http://schemas.microsoft.com/office/drawing/2014/main" id="{AE73DD2A-4E41-40A7-8F92-3A7007847B7C}"/>
              </a:ext>
            </a:extLst>
          </p:cNvPr>
          <p:cNvSpPr>
            <a:spLocks xmlns:a="http://schemas.openxmlformats.org/drawingml/2006/main" noGrp="1"/>
          </p:cNvSpPr>
          <p:nvPr/>
        </p:nvSpPr>
        <p:spPr>
          <a:xfrm xmlns:a="http://schemas.openxmlformats.org/drawingml/2006/main">
            <a:off x="628650" y="2876550"/>
            <a:ext cx="5238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0">
                <a:solidFill>
                  <a:srgbClr val="172335"/>
                </a:solidFill>
                <a:latin typeface="Arial"/>
                <a:ea typeface="Arial"/>
                <a:cs typeface="Arial"/>
              </a:defRPr>
            </a:pPr>
            <a:r>
              <a:rPr sz="2850" b="0">
                <a:solidFill>
                  <a:srgbClr val="172335"/>
                </a:solidFill>
                <a:latin typeface="Arial"/>
                <a:ea typeface="Arial"/>
                <a:cs typeface="Arial"/>
              </a:rPr>
              <a:t>Suitable people</a:t>
            </a:r>
          </a:p>
          <a:p xmlns:a="http://schemas.openxmlformats.org/drawingml/2006/main">
            <a:pPr>
              <a:defRPr sz="2850" b="0">
                <a:solidFill>
                  <a:srgbClr val="172335"/>
                </a:solidFill>
                <a:latin typeface="Arial"/>
                <a:ea typeface="Arial"/>
                <a:cs typeface="Arial"/>
              </a:defRPr>
            </a:pPr>
            <a:r>
              <a:rPr sz="2850" b="0">
                <a:solidFill>
                  <a:srgbClr val="172335"/>
                </a:solidFill>
                <a:latin typeface="Arial"/>
                <a:ea typeface="Arial"/>
                <a:cs typeface="Arial"/>
              </a:rPr>
              <a:t>Across event roles</a:t>
            </a:r>
          </a:p>
          <a:p xmlns:a="http://schemas.openxmlformats.org/drawingml/2006/main">
            <a:pPr>
              <a:defRPr sz="2850" b="0">
                <a:solidFill>
                  <a:srgbClr val="172335"/>
                </a:solidFill>
                <a:latin typeface="Arial"/>
                <a:ea typeface="Arial"/>
                <a:cs typeface="Arial"/>
              </a:defRPr>
            </a:pPr>
            <a:r>
              <a:rPr sz="2850" b="0">
                <a:solidFill>
                  <a:srgbClr val="172335"/>
                </a:solidFill>
                <a:latin typeface="Arial"/>
                <a:ea typeface="Arial"/>
                <a:cs typeface="Arial"/>
              </a:rPr>
              <a:t>Less recruitment effort</a:t>
            </a:r>
          </a:p>
        </p:txBody>
      </p:sp>
      <p:sp>
        <p:nvSpPr>
          <p:cNvPr id="4" name="People">
            <a:extLst xmlns:a="http://schemas.openxmlformats.org/drawingml/2006/main">
              <a:ext uri="{FF2B5EF4-FFF2-40B4-BE49-F238E27FC236}">
                <a16:creationId xmlns:a16="http://schemas.microsoft.com/office/drawing/2014/main" id="{04AED6B0-7DF5-4959-89E1-4B9847FD0FF3}"/>
              </a:ext>
            </a:extLst>
          </p:cNvPr>
          <p:cNvSpPr>
            <a:spLocks xmlns:a="http://schemas.openxmlformats.org/drawingml/2006/main" noGrp="1"/>
          </p:cNvSpPr>
          <p:nvPr/>
        </p:nvSpPr>
        <p:spPr>
          <a:xfrm xmlns:a="http://schemas.openxmlformats.org/drawingml/2006/main">
            <a:off x="6686550" y="20097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37333"/>
                </a:solidFill>
                <a:latin typeface="Arial"/>
                <a:ea typeface="Arial"/>
                <a:cs typeface="Arial"/>
              </a:defRPr>
            </a:pPr>
            <a:r>
              <a:rPr sz="2550" b="1">
                <a:solidFill>
                  <a:srgbClr val="137333"/>
                </a:solidFill>
                <a:latin typeface="Arial"/>
                <a:ea typeface="Arial"/>
                <a:cs typeface="Arial"/>
              </a:rPr>
              <a:t>People</a:t>
            </a:r>
          </a:p>
        </p:txBody>
      </p:sp>
      <p:sp>
        <p:nvSpPr>
          <p:cNvPr id="5" name="Relevant opportunities&#10;A role they want&#10;A rea">
            <a:extLst xmlns:a="http://schemas.openxmlformats.org/drawingml/2006/main">
              <a:ext uri="{FF2B5EF4-FFF2-40B4-BE49-F238E27FC236}">
                <a16:creationId xmlns:a16="http://schemas.microsoft.com/office/drawing/2014/main" id="{2FDC23B3-ACAB-4A50-B89C-AD900D9148AB}"/>
              </a:ext>
            </a:extLst>
          </p:cNvPr>
          <p:cNvSpPr>
            <a:spLocks xmlns:a="http://schemas.openxmlformats.org/drawingml/2006/main" noGrp="1"/>
          </p:cNvSpPr>
          <p:nvPr/>
        </p:nvSpPr>
        <p:spPr>
          <a:xfrm xmlns:a="http://schemas.openxmlformats.org/drawingml/2006/main">
            <a:off x="6686550" y="2876550"/>
            <a:ext cx="4857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0">
                <a:solidFill>
                  <a:srgbClr val="172335"/>
                </a:solidFill>
                <a:latin typeface="Arial"/>
                <a:ea typeface="Arial"/>
                <a:cs typeface="Arial"/>
              </a:defRPr>
            </a:pPr>
            <a:r>
              <a:rPr sz="2850" b="0">
                <a:solidFill>
                  <a:srgbClr val="172335"/>
                </a:solidFill>
                <a:latin typeface="Arial"/>
                <a:ea typeface="Arial"/>
                <a:cs typeface="Arial"/>
              </a:rPr>
              <a:t>Relevant opportunities</a:t>
            </a:r>
          </a:p>
          <a:p xmlns:a="http://schemas.openxmlformats.org/drawingml/2006/main">
            <a:pPr>
              <a:defRPr sz="2850" b="0">
                <a:solidFill>
                  <a:srgbClr val="172335"/>
                </a:solidFill>
                <a:latin typeface="Arial"/>
                <a:ea typeface="Arial"/>
                <a:cs typeface="Arial"/>
              </a:defRPr>
            </a:pPr>
            <a:r>
              <a:rPr sz="2850" b="0">
                <a:solidFill>
                  <a:srgbClr val="172335"/>
                </a:solidFill>
                <a:latin typeface="Arial"/>
                <a:ea typeface="Arial"/>
                <a:cs typeface="Arial"/>
              </a:rPr>
              <a:t>A role they want</a:t>
            </a:r>
          </a:p>
          <a:p xmlns:a="http://schemas.openxmlformats.org/drawingml/2006/main">
            <a:pPr>
              <a:defRPr sz="2850" b="0">
                <a:solidFill>
                  <a:srgbClr val="172335"/>
                </a:solidFill>
                <a:latin typeface="Arial"/>
                <a:ea typeface="Arial"/>
                <a:cs typeface="Arial"/>
              </a:defRPr>
            </a:pPr>
            <a:r>
              <a:rPr sz="2850" b="0">
                <a:solidFill>
                  <a:srgbClr val="172335"/>
                </a:solidFill>
                <a:latin typeface="Arial"/>
                <a:ea typeface="Arial"/>
                <a:cs typeface="Arial"/>
              </a:rPr>
              <a:t>A reason to join</a:t>
            </a:r>
          </a:p>
        </p:txBody>
      </p:sp>
      <p:sp>
        <p:nvSpPr>
          <p:cNvPr id="6" name="First customer: organizations running recurri">
            <a:extLst xmlns:a="http://schemas.openxmlformats.org/drawingml/2006/main">
              <a:ext uri="{FF2B5EF4-FFF2-40B4-BE49-F238E27FC236}">
                <a16:creationId xmlns:a16="http://schemas.microsoft.com/office/drawing/2014/main" id="{104DD6FC-542E-4FBF-8BBB-65631764D06E}"/>
              </a:ext>
            </a:extLst>
          </p:cNvPr>
          <p:cNvSpPr>
            <a:spLocks xmlns:a="http://schemas.openxmlformats.org/drawingml/2006/main" noGrp="1"/>
          </p:cNvSpPr>
          <p:nvPr/>
        </p:nvSpPr>
        <p:spPr>
          <a:xfrm xmlns:a="http://schemas.openxmlformats.org/drawingml/2006/main">
            <a:off x="628650" y="58864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26274"/>
                </a:solidFill>
                <a:latin typeface="Arial"/>
                <a:ea typeface="Arial"/>
                <a:cs typeface="Arial"/>
              </a:defRPr>
            </a:pPr>
            <a:r>
              <a:rPr sz="1800" b="0">
                <a:solidFill>
                  <a:srgbClr val="526274"/>
                </a:solidFill>
                <a:latin typeface="Arial"/>
                <a:ea typeface="Arial"/>
                <a:cs typeface="Arial"/>
              </a:rPr>
              <a:t>First customer: organizations running recurring professional and educational events</a:t>
            </a:r>
          </a:p>
        </p:txBody>
      </p:sp>
    </p:spTree>
    <p:extLst>
      <p:ext uri="{BB962C8B-B14F-4D97-AF65-F5344CB8AC3E}">
        <p14:creationId xmlns:p14="http://schemas.microsoft.com/office/powerpoint/2010/main" val="16315653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he matchmaking algorithm">
            <a:extLst xmlns:a="http://schemas.openxmlformats.org/drawingml/2006/main">
              <a:ext uri="{FF2B5EF4-FFF2-40B4-BE49-F238E27FC236}">
                <a16:creationId xmlns:a16="http://schemas.microsoft.com/office/drawing/2014/main" id="{0F4E4EC9-A090-4BBF-A6FC-B02D1EE98DFE}"/>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72335"/>
                </a:solidFill>
                <a:latin typeface="Arial"/>
                <a:ea typeface="Arial"/>
                <a:cs typeface="Arial"/>
              </a:defRPr>
            </a:pPr>
            <a:r>
              <a:rPr sz="3525" b="1">
                <a:solidFill>
                  <a:srgbClr val="172335"/>
                </a:solidFill>
                <a:latin typeface="Arial"/>
                <a:ea typeface="Arial"/>
                <a:cs typeface="Arial"/>
              </a:rPr>
              <a:t>The matchmaking algorithm</a:t>
            </a:r>
          </a:p>
        </p:txBody>
      </p:sp>
      <p:sp>
        <p:nvSpPr>
          <p:cNvPr id="2" name="1">
            <a:extLst xmlns:a="http://schemas.openxmlformats.org/drawingml/2006/main">
              <a:ext uri="{FF2B5EF4-FFF2-40B4-BE49-F238E27FC236}">
                <a16:creationId xmlns:a16="http://schemas.microsoft.com/office/drawing/2014/main" id="{2EEA15F7-48B7-4938-AA25-6D1F16BC4C7D}"/>
              </a:ext>
            </a:extLst>
          </p:cNvPr>
          <p:cNvSpPr>
            <a:spLocks xmlns:a="http://schemas.openxmlformats.org/drawingml/2006/main" noGrp="1"/>
          </p:cNvSpPr>
          <p:nvPr/>
        </p:nvSpPr>
        <p:spPr>
          <a:xfrm xmlns:a="http://schemas.openxmlformats.org/drawingml/2006/main">
            <a:off x="628650" y="2028825"/>
            <a:ext cx="66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350" b="1">
                <a:solidFill>
                  <a:srgbClr val="185ABC"/>
                </a:solidFill>
                <a:latin typeface="Arial"/>
                <a:ea typeface="Arial"/>
                <a:cs typeface="Arial"/>
              </a:defRPr>
            </a:pPr>
            <a:r>
              <a:rPr sz="4350" b="1">
                <a:solidFill>
                  <a:srgbClr val="185ABC"/>
                </a:solidFill>
                <a:latin typeface="Arial"/>
                <a:ea typeface="Arial"/>
                <a:cs typeface="Arial"/>
              </a:rPr>
              <a:t>1</a:t>
            </a:r>
          </a:p>
        </p:txBody>
      </p:sp>
      <p:sp>
        <p:nvSpPr>
          <p:cNvPr id="3" name="Eligibility">
            <a:extLst xmlns:a="http://schemas.openxmlformats.org/drawingml/2006/main">
              <a:ext uri="{FF2B5EF4-FFF2-40B4-BE49-F238E27FC236}">
                <a16:creationId xmlns:a16="http://schemas.microsoft.com/office/drawing/2014/main" id="{C994DFBA-AD66-428C-BEA7-BBE5A489BE39}"/>
              </a:ext>
            </a:extLst>
          </p:cNvPr>
          <p:cNvSpPr>
            <a:spLocks xmlns:a="http://schemas.openxmlformats.org/drawingml/2006/main" noGrp="1"/>
          </p:cNvSpPr>
          <p:nvPr/>
        </p:nvSpPr>
        <p:spPr>
          <a:xfrm xmlns:a="http://schemas.openxmlformats.org/drawingml/2006/main">
            <a:off x="628650" y="28956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72335"/>
                </a:solidFill>
                <a:latin typeface="Arial"/>
                <a:ea typeface="Arial"/>
                <a:cs typeface="Arial"/>
              </a:defRPr>
            </a:pPr>
            <a:r>
              <a:rPr sz="2625" b="1">
                <a:solidFill>
                  <a:srgbClr val="172335"/>
                </a:solidFill>
                <a:latin typeface="Arial"/>
                <a:ea typeface="Arial"/>
                <a:cs typeface="Arial"/>
              </a:rPr>
              <a:t>Eligibility</a:t>
            </a:r>
          </a:p>
        </p:txBody>
      </p:sp>
      <p:sp>
        <p:nvSpPr>
          <p:cNvPr id="4" name="Requirements&#10;Dates and capacity">
            <a:extLst xmlns:a="http://schemas.openxmlformats.org/drawingml/2006/main">
              <a:ext uri="{FF2B5EF4-FFF2-40B4-BE49-F238E27FC236}">
                <a16:creationId xmlns:a16="http://schemas.microsoft.com/office/drawing/2014/main" id="{60F6F731-3D15-4137-A3F5-B4B861CC9759}"/>
              </a:ext>
            </a:extLst>
          </p:cNvPr>
          <p:cNvSpPr>
            <a:spLocks xmlns:a="http://schemas.openxmlformats.org/drawingml/2006/main" noGrp="1"/>
          </p:cNvSpPr>
          <p:nvPr/>
        </p:nvSpPr>
        <p:spPr>
          <a:xfrm xmlns:a="http://schemas.openxmlformats.org/drawingml/2006/main">
            <a:off x="628650" y="3743325"/>
            <a:ext cx="3333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526274"/>
                </a:solidFill>
                <a:latin typeface="Arial"/>
                <a:ea typeface="Arial"/>
                <a:cs typeface="Arial"/>
              </a:defRPr>
            </a:pPr>
            <a:r>
              <a:rPr sz="2175" b="0">
                <a:solidFill>
                  <a:srgbClr val="526274"/>
                </a:solidFill>
                <a:latin typeface="Arial"/>
                <a:ea typeface="Arial"/>
                <a:cs typeface="Arial"/>
              </a:rPr>
              <a:t>Requirements</a:t>
            </a:r>
          </a:p>
          <a:p xmlns:a="http://schemas.openxmlformats.org/drawingml/2006/main">
            <a:pPr>
              <a:defRPr sz="2175" b="0">
                <a:solidFill>
                  <a:srgbClr val="526274"/>
                </a:solidFill>
                <a:latin typeface="Arial"/>
                <a:ea typeface="Arial"/>
                <a:cs typeface="Arial"/>
              </a:defRPr>
            </a:pPr>
            <a:r>
              <a:rPr sz="2175" b="0">
                <a:solidFill>
                  <a:srgbClr val="526274"/>
                </a:solidFill>
                <a:latin typeface="Arial"/>
                <a:ea typeface="Arial"/>
                <a:cs typeface="Arial"/>
              </a:rPr>
              <a:t>Dates and capacity</a:t>
            </a:r>
          </a:p>
        </p:txBody>
      </p:sp>
      <p:sp>
        <p:nvSpPr>
          <p:cNvPr id="5" name="2">
            <a:extLst xmlns:a="http://schemas.openxmlformats.org/drawingml/2006/main">
              <a:ext uri="{FF2B5EF4-FFF2-40B4-BE49-F238E27FC236}">
                <a16:creationId xmlns:a16="http://schemas.microsoft.com/office/drawing/2014/main" id="{EB270DEB-5D09-46EA-93DC-2110FE4FA9B3}"/>
              </a:ext>
            </a:extLst>
          </p:cNvPr>
          <p:cNvSpPr>
            <a:spLocks xmlns:a="http://schemas.openxmlformats.org/drawingml/2006/main" noGrp="1"/>
          </p:cNvSpPr>
          <p:nvPr/>
        </p:nvSpPr>
        <p:spPr>
          <a:xfrm xmlns:a="http://schemas.openxmlformats.org/drawingml/2006/main">
            <a:off x="4343400" y="2028825"/>
            <a:ext cx="66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350" b="1">
                <a:solidFill>
                  <a:srgbClr val="137333"/>
                </a:solidFill>
                <a:latin typeface="Arial"/>
                <a:ea typeface="Arial"/>
                <a:cs typeface="Arial"/>
              </a:defRPr>
            </a:pPr>
            <a:r>
              <a:rPr sz="4350" b="1">
                <a:solidFill>
                  <a:srgbClr val="137333"/>
                </a:solidFill>
                <a:latin typeface="Arial"/>
                <a:ea typeface="Arial"/>
                <a:cs typeface="Arial"/>
              </a:rPr>
              <a:t>2</a:t>
            </a:r>
          </a:p>
        </p:txBody>
      </p:sp>
      <p:sp>
        <p:nvSpPr>
          <p:cNvPr id="6" name="Relevance">
            <a:extLst xmlns:a="http://schemas.openxmlformats.org/drawingml/2006/main">
              <a:ext uri="{FF2B5EF4-FFF2-40B4-BE49-F238E27FC236}">
                <a16:creationId xmlns:a16="http://schemas.microsoft.com/office/drawing/2014/main" id="{F8814AD1-729D-44F1-966A-711CE0E5F04F}"/>
              </a:ext>
            </a:extLst>
          </p:cNvPr>
          <p:cNvSpPr>
            <a:spLocks xmlns:a="http://schemas.openxmlformats.org/drawingml/2006/main" noGrp="1"/>
          </p:cNvSpPr>
          <p:nvPr/>
        </p:nvSpPr>
        <p:spPr>
          <a:xfrm xmlns:a="http://schemas.openxmlformats.org/drawingml/2006/main">
            <a:off x="4343400" y="28956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72335"/>
                </a:solidFill>
                <a:latin typeface="Arial"/>
                <a:ea typeface="Arial"/>
                <a:cs typeface="Arial"/>
              </a:defRPr>
            </a:pPr>
            <a:r>
              <a:rPr sz="2625" b="1">
                <a:solidFill>
                  <a:srgbClr val="172335"/>
                </a:solidFill>
                <a:latin typeface="Arial"/>
                <a:ea typeface="Arial"/>
                <a:cs typeface="Arial"/>
              </a:rPr>
              <a:t>Relevance</a:t>
            </a:r>
          </a:p>
        </p:txBody>
      </p:sp>
      <p:sp>
        <p:nvSpPr>
          <p:cNvPr id="7" name="Skills and interests&#10;Learning goals and roles">
            <a:extLst xmlns:a="http://schemas.openxmlformats.org/drawingml/2006/main">
              <a:ext uri="{FF2B5EF4-FFF2-40B4-BE49-F238E27FC236}">
                <a16:creationId xmlns:a16="http://schemas.microsoft.com/office/drawing/2014/main" id="{5C3873ED-B01D-429C-BF35-A9E1837DAB37}"/>
              </a:ext>
            </a:extLst>
          </p:cNvPr>
          <p:cNvSpPr>
            <a:spLocks xmlns:a="http://schemas.openxmlformats.org/drawingml/2006/main" noGrp="1"/>
          </p:cNvSpPr>
          <p:nvPr/>
        </p:nvSpPr>
        <p:spPr>
          <a:xfrm xmlns:a="http://schemas.openxmlformats.org/drawingml/2006/main">
            <a:off x="4343400" y="3743325"/>
            <a:ext cx="3333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526274"/>
                </a:solidFill>
                <a:latin typeface="Arial"/>
                <a:ea typeface="Arial"/>
                <a:cs typeface="Arial"/>
              </a:defRPr>
            </a:pPr>
            <a:r>
              <a:rPr sz="2175" b="0">
                <a:solidFill>
                  <a:srgbClr val="526274"/>
                </a:solidFill>
                <a:latin typeface="Arial"/>
                <a:ea typeface="Arial"/>
                <a:cs typeface="Arial"/>
              </a:rPr>
              <a:t>Skills and interests</a:t>
            </a:r>
          </a:p>
          <a:p xmlns:a="http://schemas.openxmlformats.org/drawingml/2006/main">
            <a:pPr>
              <a:defRPr sz="2175" b="0">
                <a:solidFill>
                  <a:srgbClr val="526274"/>
                </a:solidFill>
                <a:latin typeface="Arial"/>
                <a:ea typeface="Arial"/>
                <a:cs typeface="Arial"/>
              </a:defRPr>
            </a:pPr>
            <a:r>
              <a:rPr sz="2175" b="0">
                <a:solidFill>
                  <a:srgbClr val="526274"/>
                </a:solidFill>
                <a:latin typeface="Arial"/>
                <a:ea typeface="Arial"/>
                <a:cs typeface="Arial"/>
              </a:rPr>
              <a:t>Learning goals and roles</a:t>
            </a:r>
          </a:p>
        </p:txBody>
      </p:sp>
      <p:sp>
        <p:nvSpPr>
          <p:cNvPr id="8" name="3">
            <a:extLst xmlns:a="http://schemas.openxmlformats.org/drawingml/2006/main">
              <a:ext uri="{FF2B5EF4-FFF2-40B4-BE49-F238E27FC236}">
                <a16:creationId xmlns:a16="http://schemas.microsoft.com/office/drawing/2014/main" id="{EFA490FD-FE1E-43A3-B841-1D5B78EC7A2E}"/>
              </a:ext>
            </a:extLst>
          </p:cNvPr>
          <p:cNvSpPr>
            <a:spLocks xmlns:a="http://schemas.openxmlformats.org/drawingml/2006/main" noGrp="1"/>
          </p:cNvSpPr>
          <p:nvPr/>
        </p:nvSpPr>
        <p:spPr>
          <a:xfrm xmlns:a="http://schemas.openxmlformats.org/drawingml/2006/main">
            <a:off x="8058150" y="2028825"/>
            <a:ext cx="66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350" b="1">
                <a:solidFill>
                  <a:srgbClr val="B3261E"/>
                </a:solidFill>
                <a:latin typeface="Arial"/>
                <a:ea typeface="Arial"/>
                <a:cs typeface="Arial"/>
              </a:defRPr>
            </a:pPr>
            <a:r>
              <a:rPr sz="4350" b="1">
                <a:solidFill>
                  <a:srgbClr val="B3261E"/>
                </a:solidFill>
                <a:latin typeface="Arial"/>
                <a:ea typeface="Arial"/>
                <a:cs typeface="Arial"/>
              </a:rPr>
              <a:t>3</a:t>
            </a:r>
          </a:p>
        </p:txBody>
      </p:sp>
      <p:sp>
        <p:nvSpPr>
          <p:cNvPr id="9" name="Human choice">
            <a:extLst xmlns:a="http://schemas.openxmlformats.org/drawingml/2006/main">
              <a:ext uri="{FF2B5EF4-FFF2-40B4-BE49-F238E27FC236}">
                <a16:creationId xmlns:a16="http://schemas.microsoft.com/office/drawing/2014/main" id="{E77FC448-15C5-48D9-B60F-614BF50B38E1}"/>
              </a:ext>
            </a:extLst>
          </p:cNvPr>
          <p:cNvSpPr>
            <a:spLocks xmlns:a="http://schemas.openxmlformats.org/drawingml/2006/main" noGrp="1"/>
          </p:cNvSpPr>
          <p:nvPr/>
        </p:nvSpPr>
        <p:spPr>
          <a:xfrm xmlns:a="http://schemas.openxmlformats.org/drawingml/2006/main">
            <a:off x="8058150" y="28956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72335"/>
                </a:solidFill>
                <a:latin typeface="Arial"/>
                <a:ea typeface="Arial"/>
                <a:cs typeface="Arial"/>
              </a:defRPr>
            </a:pPr>
            <a:r>
              <a:rPr sz="2625" b="1">
                <a:solidFill>
                  <a:srgbClr val="172335"/>
                </a:solidFill>
                <a:latin typeface="Arial"/>
                <a:ea typeface="Arial"/>
                <a:cs typeface="Arial"/>
              </a:rPr>
              <a:t>Human choice</a:t>
            </a:r>
          </a:p>
        </p:txBody>
      </p:sp>
      <p:sp>
        <p:nvSpPr>
          <p:cNvPr id="10" name="Explain the suggestion&#10;Let both sides decide">
            <a:extLst xmlns:a="http://schemas.openxmlformats.org/drawingml/2006/main">
              <a:ext uri="{FF2B5EF4-FFF2-40B4-BE49-F238E27FC236}">
                <a16:creationId xmlns:a16="http://schemas.microsoft.com/office/drawing/2014/main" id="{2C5DC17F-E6B4-44A3-89EC-63AC11D75356}"/>
              </a:ext>
            </a:extLst>
          </p:cNvPr>
          <p:cNvSpPr>
            <a:spLocks xmlns:a="http://schemas.openxmlformats.org/drawingml/2006/main" noGrp="1"/>
          </p:cNvSpPr>
          <p:nvPr/>
        </p:nvSpPr>
        <p:spPr>
          <a:xfrm xmlns:a="http://schemas.openxmlformats.org/drawingml/2006/main">
            <a:off x="8058150" y="3743325"/>
            <a:ext cx="3333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526274"/>
                </a:solidFill>
                <a:latin typeface="Arial"/>
                <a:ea typeface="Arial"/>
                <a:cs typeface="Arial"/>
              </a:defRPr>
            </a:pPr>
            <a:r>
              <a:rPr sz="2175" b="0">
                <a:solidFill>
                  <a:srgbClr val="526274"/>
                </a:solidFill>
                <a:latin typeface="Arial"/>
                <a:ea typeface="Arial"/>
                <a:cs typeface="Arial"/>
              </a:rPr>
              <a:t>Explain the suggestion</a:t>
            </a:r>
          </a:p>
          <a:p xmlns:a="http://schemas.openxmlformats.org/drawingml/2006/main">
            <a:pPr>
              <a:defRPr sz="2175" b="0">
                <a:solidFill>
                  <a:srgbClr val="526274"/>
                </a:solidFill>
                <a:latin typeface="Arial"/>
                <a:ea typeface="Arial"/>
                <a:cs typeface="Arial"/>
              </a:defRPr>
            </a:pPr>
            <a:r>
              <a:rPr sz="2175" b="0">
                <a:solidFill>
                  <a:srgbClr val="526274"/>
                </a:solidFill>
                <a:latin typeface="Arial"/>
                <a:ea typeface="Arial"/>
                <a:cs typeface="Arial"/>
              </a:rPr>
              <a:t>Let both sides decide</a:t>
            </a:r>
          </a:p>
        </p:txBody>
      </p:sp>
      <p:sp>
        <p:nvSpPr>
          <p:cNvPr id="11" name="Google EmbeddingGemma compares meaning. Eligi">
            <a:extLst xmlns:a="http://schemas.openxmlformats.org/drawingml/2006/main">
              <a:ext uri="{FF2B5EF4-FFF2-40B4-BE49-F238E27FC236}">
                <a16:creationId xmlns:a16="http://schemas.microsoft.com/office/drawing/2014/main" id="{4F8428CE-258C-4416-896F-3B4A69A5B61C}"/>
              </a:ext>
            </a:extLst>
          </p:cNvPr>
          <p:cNvSpPr>
            <a:spLocks xmlns:a="http://schemas.openxmlformats.org/drawingml/2006/main" noGrp="1"/>
          </p:cNvSpPr>
          <p:nvPr/>
        </p:nvSpPr>
        <p:spPr>
          <a:xfrm xmlns:a="http://schemas.openxmlformats.org/drawingml/2006/main">
            <a:off x="628650" y="58293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85ABC"/>
                </a:solidFill>
                <a:latin typeface="Arial"/>
                <a:ea typeface="Arial"/>
                <a:cs typeface="Arial"/>
              </a:defRPr>
            </a:pPr>
            <a:r>
              <a:rPr sz="1875" b="0">
                <a:solidFill>
                  <a:srgbClr val="185ABC"/>
                </a:solidFill>
                <a:latin typeface="Arial"/>
                <a:ea typeface="Arial"/>
                <a:cs typeface="Arial"/>
              </a:rPr>
              <a:t>Google EmbeddingGemma compares meaning. Eligibility remains explicit.</a:t>
            </a:r>
          </a:p>
        </p:txBody>
      </p:sp>
    </p:spTree>
    <p:extLst>
      <p:ext uri="{BB962C8B-B14F-4D97-AF65-F5344CB8AC3E}">
        <p14:creationId xmlns:p14="http://schemas.microsoft.com/office/powerpoint/2010/main" val="215869083"/>
      </p:ext>
    </p:extLst>
  </p:cSld>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080D1B"/>
        </a:solidFill>
      </p:bgPr>
    </p:bg>
    <p:spTree>
      <p:nvGrpSpPr>
        <p:cNvPr id="1" name=""/>
        <p:cNvGrpSpPr/>
        <p:nvPr/>
      </p:nvGrpSpPr>
      <p:grpSpPr>
        <a:xfrm/>
      </p:grpSpPr>
      <p:pic>
        <p:nvPicPr>
          <p:cNvPr id="2" name="GEvents walkthrough video" descr="GEvents walkthrough video poster">
            <a:hlinkClick action="ppaction://media"/>
          </p:cNvPr>
          <p:cNvPicPr>
            <a:picLocks noChangeAspect="1"/>
          </p:cNvPicPr>
          <p:nvPr>
            <a:videoFile r:link="rIdGEventsVideo"/>
            <p:extLst>
              <p:ext uri="{DAA4B4D4-9D5F-4E6B-BB67-62119FA6918F}">
                <p14:media r:embed="rIdGEventsMedia"/>
              </p:ext>
            </p:extLst>
          </p:nvPr>
        </p:nvPicPr>
        <p:blipFill>
          <a:blip r:embed="Racdb7b8c6cf54a20"/>
          <a:stretch/>
        </p:blipFill>
        <p:spPr>
          <a:xfrm>
            <a:off x="609600" y="0"/>
            <a:ext cx="10972800" cy="6858000"/>
          </a:xfrm>
          <a:prstGeom prst="rect">
            <a:avLst/>
          </a:prstGeom>
        </p:spPr>
      </p:pic>
    </p:spTree>
    <p:extLst>
      <p:ext uri="{BB962C8B-B14F-4D97-AF65-F5344CB8AC3E}">
        <p14:creationId val="1396808828"/>
      </p:ext>
    </p:extLst>
  </p:cSld>
  <p:timing>
    <p:tnLst>
      <p:par>
        <p:cTn id="100" dur="indefinite" restart="never" nodeType="tmRoot">
          <p:childTnLst>
            <p:video>
              <p:cMediaNode vol="0">
                <p:cTn id="101" fill="hold" display="0">
                  <p:stCondLst>
                    <p:cond delay="indefinite"/>
                  </p:stCondLst>
                </p:cTn>
                <p:tgtEl>
                  <p:spTgt spid="2"/>
                </p:tgtEl>
              </p:cMediaNode>
            </p:video>
          </p:childTnLst>
        </p:cTn>
      </p:par>
    </p:tnLst>
  </p:timing>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What we tested and learned">
            <a:extLst xmlns:a="http://schemas.openxmlformats.org/drawingml/2006/main">
              <a:ext uri="{FF2B5EF4-FFF2-40B4-BE49-F238E27FC236}">
                <a16:creationId xmlns:a16="http://schemas.microsoft.com/office/drawing/2014/main" id="{31491A38-E3DD-4D5B-9289-CCB06AB31925}"/>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72335"/>
                </a:solidFill>
                <a:latin typeface="Arial"/>
                <a:ea typeface="Arial"/>
                <a:cs typeface="Arial"/>
              </a:defRPr>
            </a:pPr>
            <a:r>
              <a:rPr sz="3525" b="1">
                <a:solidFill>
                  <a:srgbClr val="172335"/>
                </a:solidFill>
                <a:latin typeface="Arial"/>
                <a:ea typeface="Arial"/>
                <a:cs typeface="Arial"/>
              </a:rPr>
              <a:t>What we tested and learned</a:t>
            </a:r>
          </a:p>
        </p:txBody>
      </p:sp>
      <p:sp>
        <p:nvSpPr>
          <p:cNvPr id="2" name="50 / 50">
            <a:extLst xmlns:a="http://schemas.openxmlformats.org/drawingml/2006/main">
              <a:ext uri="{FF2B5EF4-FFF2-40B4-BE49-F238E27FC236}">
                <a16:creationId xmlns:a16="http://schemas.microsoft.com/office/drawing/2014/main" id="{7892BD6E-E9E8-4682-BE4C-B4B1537E49B8}"/>
              </a:ext>
            </a:extLst>
          </p:cNvPr>
          <p:cNvSpPr>
            <a:spLocks xmlns:a="http://schemas.openxmlformats.org/drawingml/2006/main" noGrp="1"/>
          </p:cNvSpPr>
          <p:nvPr/>
        </p:nvSpPr>
        <p:spPr>
          <a:xfrm xmlns:a="http://schemas.openxmlformats.org/drawingml/2006/main">
            <a:off x="628650" y="1905000"/>
            <a:ext cx="628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700" b="1">
                <a:solidFill>
                  <a:srgbClr val="185ABC"/>
                </a:solidFill>
                <a:latin typeface="Arial"/>
                <a:ea typeface="Arial"/>
                <a:cs typeface="Arial"/>
              </a:defRPr>
            </a:pPr>
            <a:r>
              <a:rPr sz="8700" b="1">
                <a:solidFill>
                  <a:srgbClr val="185ABC"/>
                </a:solidFill>
                <a:latin typeface="Arial"/>
                <a:ea typeface="Arial"/>
                <a:cs typeface="Arial"/>
              </a:rPr>
              <a:t>50 / 50</a:t>
            </a:r>
          </a:p>
        </p:txBody>
      </p:sp>
      <p:sp>
        <p:nvSpPr>
          <p:cNvPr id="3" name="Diagnostic checks passed">
            <a:extLst xmlns:a="http://schemas.openxmlformats.org/drawingml/2006/main">
              <a:ext uri="{FF2B5EF4-FFF2-40B4-BE49-F238E27FC236}">
                <a16:creationId xmlns:a16="http://schemas.microsoft.com/office/drawing/2014/main" id="{6C322D38-D1BC-4C7B-80B0-C50C72181112}"/>
              </a:ext>
            </a:extLst>
          </p:cNvPr>
          <p:cNvSpPr>
            <a:spLocks xmlns:a="http://schemas.openxmlformats.org/drawingml/2006/main" noGrp="1"/>
          </p:cNvSpPr>
          <p:nvPr/>
        </p:nvSpPr>
        <p:spPr>
          <a:xfrm xmlns:a="http://schemas.openxmlformats.org/drawingml/2006/main">
            <a:off x="628650" y="3667125"/>
            <a:ext cx="647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72335"/>
                </a:solidFill>
                <a:latin typeface="Arial"/>
                <a:ea typeface="Arial"/>
                <a:cs typeface="Arial"/>
              </a:defRPr>
            </a:pPr>
            <a:r>
              <a:rPr sz="2475" b="1">
                <a:solidFill>
                  <a:srgbClr val="172335"/>
                </a:solidFill>
                <a:latin typeface="Arial"/>
                <a:ea typeface="Arial"/>
                <a:cs typeface="Arial"/>
              </a:rPr>
              <a:t>Diagnostic checks passed</a:t>
            </a:r>
          </a:p>
        </p:txBody>
      </p:sp>
      <p:sp>
        <p:nvSpPr>
          <p:cNvPr id="4" name="7 fictional profiles&#10;2 synthetic events&#10;Real ">
            <a:extLst xmlns:a="http://schemas.openxmlformats.org/drawingml/2006/main">
              <a:ext uri="{FF2B5EF4-FFF2-40B4-BE49-F238E27FC236}">
                <a16:creationId xmlns:a16="http://schemas.microsoft.com/office/drawing/2014/main" id="{CB9E8344-9E48-41D0-8FE0-06135CFDABCC}"/>
              </a:ext>
            </a:extLst>
          </p:cNvPr>
          <p:cNvSpPr>
            <a:spLocks xmlns:a="http://schemas.openxmlformats.org/drawingml/2006/main" noGrp="1"/>
          </p:cNvSpPr>
          <p:nvPr/>
        </p:nvSpPr>
        <p:spPr>
          <a:xfrm xmlns:a="http://schemas.openxmlformats.org/drawingml/2006/main">
            <a:off x="628650" y="4476750"/>
            <a:ext cx="10953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526274"/>
                </a:solidFill>
                <a:latin typeface="Arial"/>
                <a:ea typeface="Arial"/>
                <a:cs typeface="Arial"/>
              </a:defRPr>
            </a:pPr>
            <a:r>
              <a:rPr sz="2025" b="0">
                <a:solidFill>
                  <a:srgbClr val="526274"/>
                </a:solidFill>
                <a:latin typeface="Arial"/>
                <a:ea typeface="Arial"/>
                <a:cs typeface="Arial"/>
              </a:rPr>
              <a:t>7 fictional profiles</a:t>
            </a:r>
          </a:p>
          <a:p xmlns:a="http://schemas.openxmlformats.org/drawingml/2006/main">
            <a:pPr>
              <a:defRPr sz="2025" b="0">
                <a:solidFill>
                  <a:srgbClr val="526274"/>
                </a:solidFill>
                <a:latin typeface="Arial"/>
                <a:ea typeface="Arial"/>
                <a:cs typeface="Arial"/>
              </a:defRPr>
            </a:pPr>
            <a:r>
              <a:rPr sz="2025" b="0">
                <a:solidFill>
                  <a:srgbClr val="526274"/>
                </a:solidFill>
                <a:latin typeface="Arial"/>
                <a:ea typeface="Arial"/>
                <a:cs typeface="Arial"/>
              </a:rPr>
              <a:t>2 synthetic events</a:t>
            </a:r>
          </a:p>
          <a:p xmlns:a="http://schemas.openxmlformats.org/drawingml/2006/main">
            <a:pPr>
              <a:defRPr sz="2025" b="0">
                <a:solidFill>
                  <a:srgbClr val="526274"/>
                </a:solidFill>
                <a:latin typeface="Arial"/>
                <a:ea typeface="Arial"/>
                <a:cs typeface="Arial"/>
              </a:defRPr>
            </a:pPr>
            <a:r>
              <a:rPr sz="2025" b="0">
                <a:solidFill>
                  <a:srgbClr val="526274"/>
                </a:solidFill>
                <a:latin typeface="Arial"/>
                <a:ea typeface="Arial"/>
                <a:cs typeface="Arial"/>
              </a:rPr>
              <a:t>Real local Gemma and EmbeddingGemma inference</a:t>
            </a:r>
          </a:p>
        </p:txBody>
      </p:sp>
      <p:sp>
        <p:nvSpPr>
          <p:cNvPr id="5" name="Small diagnostic sample. Real user research i">
            <a:extLst xmlns:a="http://schemas.openxmlformats.org/drawingml/2006/main">
              <a:ext uri="{FF2B5EF4-FFF2-40B4-BE49-F238E27FC236}">
                <a16:creationId xmlns:a16="http://schemas.microsoft.com/office/drawing/2014/main" id="{20FFA772-C788-4D6A-A6DC-A42C6F91232E}"/>
              </a:ext>
            </a:extLst>
          </p:cNvPr>
          <p:cNvSpPr>
            <a:spLocks xmlns:a="http://schemas.openxmlformats.org/drawingml/2006/main" noGrp="1"/>
          </p:cNvSpPr>
          <p:nvPr/>
        </p:nvSpPr>
        <p:spPr>
          <a:xfrm xmlns:a="http://schemas.openxmlformats.org/drawingml/2006/main">
            <a:off x="628650" y="60960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B3261E"/>
                </a:solidFill>
                <a:latin typeface="Arial"/>
                <a:ea typeface="Arial"/>
                <a:cs typeface="Arial"/>
              </a:defRPr>
            </a:pPr>
            <a:r>
              <a:rPr sz="1800" b="1">
                <a:solidFill>
                  <a:srgbClr val="B3261E"/>
                </a:solidFill>
                <a:latin typeface="Arial"/>
                <a:ea typeface="Arial"/>
                <a:cs typeface="Arial"/>
              </a:rPr>
              <a:t>Small diagnostic sample. Real user research is the next step.</a:t>
            </a:r>
          </a:p>
        </p:txBody>
      </p:sp>
    </p:spTree>
    <p:extLst>
      <p:ext uri="{BB962C8B-B14F-4D97-AF65-F5344CB8AC3E}">
        <p14:creationId xmlns:p14="http://schemas.microsoft.com/office/powerpoint/2010/main" val="19729419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oogle technology and the pilot architecture">
            <a:extLst xmlns:a="http://schemas.openxmlformats.org/drawingml/2006/main">
              <a:ext uri="{FF2B5EF4-FFF2-40B4-BE49-F238E27FC236}">
                <a16:creationId xmlns:a16="http://schemas.microsoft.com/office/drawing/2014/main" id="{D7CFAE76-6A2E-4128-9F39-8B84D65CE4C0}"/>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72335"/>
                </a:solidFill>
                <a:latin typeface="Arial"/>
                <a:ea typeface="Arial"/>
                <a:cs typeface="Arial"/>
              </a:defRPr>
            </a:pPr>
            <a:r>
              <a:rPr sz="3525" b="1">
                <a:solidFill>
                  <a:srgbClr val="172335"/>
                </a:solidFill>
                <a:latin typeface="Arial"/>
                <a:ea typeface="Arial"/>
                <a:cs typeface="Arial"/>
              </a:rPr>
              <a:t>Google technology and the pilot architecture</a:t>
            </a:r>
          </a:p>
        </p:txBody>
      </p:sp>
      <p:sp>
        <p:nvSpPr>
          <p:cNvPr id="2" name="Application">
            <a:extLst xmlns:a="http://schemas.openxmlformats.org/drawingml/2006/main">
              <a:ext uri="{FF2B5EF4-FFF2-40B4-BE49-F238E27FC236}">
                <a16:creationId xmlns:a16="http://schemas.microsoft.com/office/drawing/2014/main" id="{168052B3-BA18-4B3C-9963-8CA0CF8CC7C2}"/>
              </a:ext>
            </a:extLst>
          </p:cNvPr>
          <p:cNvSpPr>
            <a:spLocks xmlns:a="http://schemas.openxmlformats.org/drawingml/2006/main" noGrp="1"/>
          </p:cNvSpPr>
          <p:nvPr/>
        </p:nvSpPr>
        <p:spPr>
          <a:xfrm xmlns:a="http://schemas.openxmlformats.org/drawingml/2006/main">
            <a:off x="628650" y="1819275"/>
            <a:ext cx="300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85ABC"/>
                </a:solidFill>
                <a:latin typeface="Arial"/>
                <a:ea typeface="Arial"/>
                <a:cs typeface="Arial"/>
              </a:defRPr>
            </a:pPr>
            <a:r>
              <a:rPr sz="2325" b="1">
                <a:solidFill>
                  <a:srgbClr val="185ABC"/>
                </a:solidFill>
                <a:latin typeface="Arial"/>
                <a:ea typeface="Arial"/>
                <a:cs typeface="Arial"/>
              </a:rPr>
              <a:t>Application</a:t>
            </a:r>
          </a:p>
        </p:txBody>
      </p:sp>
      <p:sp>
        <p:nvSpPr>
          <p:cNvPr id="3" name="React and authenticated Node API">
            <a:extLst xmlns:a="http://schemas.openxmlformats.org/drawingml/2006/main">
              <a:ext uri="{FF2B5EF4-FFF2-40B4-BE49-F238E27FC236}">
                <a16:creationId xmlns:a16="http://schemas.microsoft.com/office/drawing/2014/main" id="{802621DE-86BC-43E6-A96D-BE6C7D3EF73E}"/>
              </a:ext>
            </a:extLst>
          </p:cNvPr>
          <p:cNvSpPr>
            <a:spLocks xmlns:a="http://schemas.openxmlformats.org/drawingml/2006/main" noGrp="1"/>
          </p:cNvSpPr>
          <p:nvPr/>
        </p:nvSpPr>
        <p:spPr>
          <a:xfrm xmlns:a="http://schemas.openxmlformats.org/drawingml/2006/main">
            <a:off x="3848100" y="1819275"/>
            <a:ext cx="771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72335"/>
                </a:solidFill>
                <a:latin typeface="Arial"/>
                <a:ea typeface="Arial"/>
                <a:cs typeface="Arial"/>
              </a:defRPr>
            </a:pPr>
            <a:r>
              <a:rPr sz="2250" b="0">
                <a:solidFill>
                  <a:srgbClr val="172335"/>
                </a:solidFill>
                <a:latin typeface="Arial"/>
                <a:ea typeface="Arial"/>
                <a:cs typeface="Arial"/>
              </a:rPr>
              <a:t>React and authenticated Node API</a:t>
            </a:r>
          </a:p>
        </p:txBody>
      </p:sp>
      <p:sp>
        <p:nvSpPr>
          <p:cNvPr id="4" name="Identity and data">
            <a:extLst xmlns:a="http://schemas.openxmlformats.org/drawingml/2006/main">
              <a:ext uri="{FF2B5EF4-FFF2-40B4-BE49-F238E27FC236}">
                <a16:creationId xmlns:a16="http://schemas.microsoft.com/office/drawing/2014/main" id="{04315EAF-213F-4094-A808-09C59732E32B}"/>
              </a:ext>
            </a:extLst>
          </p:cNvPr>
          <p:cNvSpPr>
            <a:spLocks xmlns:a="http://schemas.openxmlformats.org/drawingml/2006/main" noGrp="1"/>
          </p:cNvSpPr>
          <p:nvPr/>
        </p:nvSpPr>
        <p:spPr>
          <a:xfrm xmlns:a="http://schemas.openxmlformats.org/drawingml/2006/main">
            <a:off x="628650" y="3057525"/>
            <a:ext cx="300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85ABC"/>
                </a:solidFill>
                <a:latin typeface="Arial"/>
                <a:ea typeface="Arial"/>
                <a:cs typeface="Arial"/>
              </a:defRPr>
            </a:pPr>
            <a:r>
              <a:rPr sz="2325" b="1">
                <a:solidFill>
                  <a:srgbClr val="185ABC"/>
                </a:solidFill>
                <a:latin typeface="Arial"/>
                <a:ea typeface="Arial"/>
                <a:cs typeface="Arial"/>
              </a:rPr>
              <a:t>Identity and data</a:t>
            </a:r>
          </a:p>
        </p:txBody>
      </p:sp>
      <p:sp>
        <p:nvSpPr>
          <p:cNvPr id="5" name="Firebase Authentication, Firestore and privat">
            <a:extLst xmlns:a="http://schemas.openxmlformats.org/drawingml/2006/main">
              <a:ext uri="{FF2B5EF4-FFF2-40B4-BE49-F238E27FC236}">
                <a16:creationId xmlns:a16="http://schemas.microsoft.com/office/drawing/2014/main" id="{73A37D00-2DB8-4F1C-A52E-F03902BBAFF8}"/>
              </a:ext>
            </a:extLst>
          </p:cNvPr>
          <p:cNvSpPr>
            <a:spLocks xmlns:a="http://schemas.openxmlformats.org/drawingml/2006/main" noGrp="1"/>
          </p:cNvSpPr>
          <p:nvPr/>
        </p:nvSpPr>
        <p:spPr>
          <a:xfrm xmlns:a="http://schemas.openxmlformats.org/drawingml/2006/main">
            <a:off x="3848100" y="3057525"/>
            <a:ext cx="771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72335"/>
                </a:solidFill>
                <a:latin typeface="Arial"/>
                <a:ea typeface="Arial"/>
                <a:cs typeface="Arial"/>
              </a:defRPr>
            </a:pPr>
            <a:r>
              <a:rPr sz="2250" b="0">
                <a:solidFill>
                  <a:srgbClr val="172335"/>
                </a:solidFill>
                <a:latin typeface="Arial"/>
                <a:ea typeface="Arial"/>
                <a:cs typeface="Arial"/>
              </a:rPr>
              <a:t>Firebase Authentication, Firestore and private CV storage</a:t>
            </a:r>
          </a:p>
        </p:txBody>
      </p:sp>
      <p:sp>
        <p:nvSpPr>
          <p:cNvPr id="6" name="Matching">
            <a:extLst xmlns:a="http://schemas.openxmlformats.org/drawingml/2006/main">
              <a:ext uri="{FF2B5EF4-FFF2-40B4-BE49-F238E27FC236}">
                <a16:creationId xmlns:a16="http://schemas.microsoft.com/office/drawing/2014/main" id="{E8087F92-E6C4-4885-8192-FC6E12743CCC}"/>
              </a:ext>
            </a:extLst>
          </p:cNvPr>
          <p:cNvSpPr>
            <a:spLocks xmlns:a="http://schemas.openxmlformats.org/drawingml/2006/main" noGrp="1"/>
          </p:cNvSpPr>
          <p:nvPr/>
        </p:nvSpPr>
        <p:spPr>
          <a:xfrm xmlns:a="http://schemas.openxmlformats.org/drawingml/2006/main">
            <a:off x="628650" y="4295775"/>
            <a:ext cx="300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85ABC"/>
                </a:solidFill>
                <a:latin typeface="Arial"/>
                <a:ea typeface="Arial"/>
                <a:cs typeface="Arial"/>
              </a:defRPr>
            </a:pPr>
            <a:r>
              <a:rPr sz="2325" b="1">
                <a:solidFill>
                  <a:srgbClr val="185ABC"/>
                </a:solidFill>
                <a:latin typeface="Arial"/>
                <a:ea typeface="Arial"/>
                <a:cs typeface="Arial"/>
              </a:rPr>
              <a:t>Matching</a:t>
            </a:r>
          </a:p>
        </p:txBody>
      </p:sp>
      <p:sp>
        <p:nvSpPr>
          <p:cNvPr id="7" name="Gemma extraction and EmbeddingGemma retrieval">
            <a:extLst xmlns:a="http://schemas.openxmlformats.org/drawingml/2006/main">
              <a:ext uri="{FF2B5EF4-FFF2-40B4-BE49-F238E27FC236}">
                <a16:creationId xmlns:a16="http://schemas.microsoft.com/office/drawing/2014/main" id="{70C81241-6081-4CE0-80DC-7B04AB0B5D9F}"/>
              </a:ext>
            </a:extLst>
          </p:cNvPr>
          <p:cNvSpPr>
            <a:spLocks xmlns:a="http://schemas.openxmlformats.org/drawingml/2006/main" noGrp="1"/>
          </p:cNvSpPr>
          <p:nvPr/>
        </p:nvSpPr>
        <p:spPr>
          <a:xfrm xmlns:a="http://schemas.openxmlformats.org/drawingml/2006/main">
            <a:off x="3848100" y="4295775"/>
            <a:ext cx="771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72335"/>
                </a:solidFill>
                <a:latin typeface="Arial"/>
                <a:ea typeface="Arial"/>
                <a:cs typeface="Arial"/>
              </a:defRPr>
            </a:pPr>
            <a:r>
              <a:rPr sz="2250" b="0">
                <a:solidFill>
                  <a:srgbClr val="172335"/>
                </a:solidFill>
                <a:latin typeface="Arial"/>
                <a:ea typeface="Arial"/>
                <a:cs typeface="Arial"/>
              </a:rPr>
              <a:t>Gemma extraction and EmbeddingGemma retrieval</a:t>
            </a:r>
          </a:p>
        </p:txBody>
      </p:sp>
      <p:sp>
        <p:nvSpPr>
          <p:cNvPr id="8" name="Local model evidence. Cloud deployment and pr">
            <a:extLst xmlns:a="http://schemas.openxmlformats.org/drawingml/2006/main">
              <a:ext uri="{FF2B5EF4-FFF2-40B4-BE49-F238E27FC236}">
                <a16:creationId xmlns:a16="http://schemas.microsoft.com/office/drawing/2014/main" id="{8732FAFA-1A89-4472-B25B-781E1BD89EE4}"/>
              </a:ext>
            </a:extLst>
          </p:cNvPr>
          <p:cNvSpPr>
            <a:spLocks xmlns:a="http://schemas.openxmlformats.org/drawingml/2006/main" noGrp="1"/>
          </p:cNvSpPr>
          <p:nvPr/>
        </p:nvSpPr>
        <p:spPr>
          <a:xfrm xmlns:a="http://schemas.openxmlformats.org/drawingml/2006/main">
            <a:off x="628650" y="60579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26274"/>
                </a:solidFill>
                <a:latin typeface="Arial"/>
                <a:ea typeface="Arial"/>
                <a:cs typeface="Arial"/>
              </a:defRPr>
            </a:pPr>
            <a:r>
              <a:rPr sz="1800" b="0">
                <a:solidFill>
                  <a:srgbClr val="526274"/>
                </a:solidFill>
                <a:latin typeface="Arial"/>
                <a:ea typeface="Arial"/>
                <a:cs typeface="Arial"/>
              </a:rPr>
              <a:t>Local model evidence. Cloud deployment and production load remain to verify.</a:t>
            </a:r>
          </a:p>
        </p:txBody>
      </p:sp>
    </p:spTree>
    <p:extLst>
      <p:ext uri="{BB962C8B-B14F-4D97-AF65-F5344CB8AC3E}">
        <p14:creationId xmlns:p14="http://schemas.microsoft.com/office/powerpoint/2010/main" val="4931920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Our position in an existing market">
            <a:extLst xmlns:a="http://schemas.openxmlformats.org/drawingml/2006/main">
              <a:ext uri="{FF2B5EF4-FFF2-40B4-BE49-F238E27FC236}">
                <a16:creationId xmlns:a16="http://schemas.microsoft.com/office/drawing/2014/main" id="{246E944E-5A5C-488B-B622-744E2D24D2D2}"/>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72335"/>
                </a:solidFill>
                <a:latin typeface="Arial"/>
                <a:ea typeface="Arial"/>
                <a:cs typeface="Arial"/>
              </a:defRPr>
            </a:pPr>
            <a:r>
              <a:rPr sz="3525" b="1">
                <a:solidFill>
                  <a:srgbClr val="172335"/>
                </a:solidFill>
                <a:latin typeface="Arial"/>
                <a:ea typeface="Arial"/>
                <a:cs typeface="Arial"/>
              </a:rPr>
              <a:t>Our position in an existing market</a:t>
            </a:r>
          </a:p>
        </p:txBody>
      </p:sp>
      <p:sp>
        <p:nvSpPr>
          <p:cNvPr id="2" name="Brella and Swapcard already offer event match">
            <a:extLst xmlns:a="http://schemas.openxmlformats.org/drawingml/2006/main">
              <a:ext uri="{FF2B5EF4-FFF2-40B4-BE49-F238E27FC236}">
                <a16:creationId xmlns:a16="http://schemas.microsoft.com/office/drawing/2014/main" id="{46249F93-B547-4F88-8C83-3FA66C642FFC}"/>
              </a:ext>
            </a:extLst>
          </p:cNvPr>
          <p:cNvSpPr>
            <a:spLocks xmlns:a="http://schemas.openxmlformats.org/drawingml/2006/main" noGrp="1"/>
          </p:cNvSpPr>
          <p:nvPr/>
        </p:nvSpPr>
        <p:spPr>
          <a:xfrm xmlns:a="http://schemas.openxmlformats.org/drawingml/2006/main">
            <a:off x="628650" y="2028825"/>
            <a:ext cx="10953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0">
                <a:solidFill>
                  <a:srgbClr val="172335"/>
                </a:solidFill>
                <a:latin typeface="Arial"/>
                <a:ea typeface="Arial"/>
                <a:cs typeface="Arial"/>
              </a:defRPr>
            </a:pPr>
            <a:r>
              <a:rPr sz="3000" b="0">
                <a:solidFill>
                  <a:srgbClr val="172335"/>
                </a:solidFill>
                <a:latin typeface="Arial"/>
                <a:ea typeface="Arial"/>
                <a:cs typeface="Arial"/>
              </a:rPr>
              <a:t>Brella and Swapcard already offer event matchmaking</a:t>
            </a:r>
          </a:p>
          <a:p xmlns:a="http://schemas.openxmlformats.org/drawingml/2006/main">
            <a:r>
              <a:t/>
            </a:r>
          </a:p>
          <a:p xmlns:a="http://schemas.openxmlformats.org/drawingml/2006/main">
            <a:pPr>
              <a:defRPr sz="3000" b="0">
                <a:solidFill>
                  <a:srgbClr val="172335"/>
                </a:solidFill>
                <a:latin typeface="Arial"/>
                <a:ea typeface="Arial"/>
                <a:cs typeface="Arial"/>
              </a:defRPr>
            </a:pPr>
            <a:r>
              <a:rPr sz="3000" b="0">
                <a:solidFill>
                  <a:srgbClr val="172335"/>
                </a:solidFill>
                <a:latin typeface="Arial"/>
                <a:ea typeface="Arial"/>
                <a:cs typeface="Arial"/>
              </a:rPr>
              <a:t>GEvents focuses on recruitment and discovery across events</a:t>
            </a:r>
          </a:p>
        </p:txBody>
      </p:sp>
      <p:sp>
        <p:nvSpPr>
          <p:cNvPr id="3" name="A proposed distinction to validate with custo">
            <a:extLst xmlns:a="http://schemas.openxmlformats.org/drawingml/2006/main">
              <a:ext uri="{FF2B5EF4-FFF2-40B4-BE49-F238E27FC236}">
                <a16:creationId xmlns:a16="http://schemas.microsoft.com/office/drawing/2014/main" id="{862C9589-1CDC-4354-9CDF-898A31AFE46E}"/>
              </a:ext>
            </a:extLst>
          </p:cNvPr>
          <p:cNvSpPr>
            <a:spLocks xmlns:a="http://schemas.openxmlformats.org/drawingml/2006/main" noGrp="1"/>
          </p:cNvSpPr>
          <p:nvPr/>
        </p:nvSpPr>
        <p:spPr>
          <a:xfrm xmlns:a="http://schemas.openxmlformats.org/drawingml/2006/main">
            <a:off x="628650" y="59055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26274"/>
                </a:solidFill>
                <a:latin typeface="Arial"/>
                <a:ea typeface="Arial"/>
                <a:cs typeface="Arial"/>
              </a:defRPr>
            </a:pPr>
            <a:r>
              <a:rPr sz="1875" b="0">
                <a:solidFill>
                  <a:srgbClr val="526274"/>
                </a:solidFill>
                <a:latin typeface="Arial"/>
                <a:ea typeface="Arial"/>
                <a:cs typeface="Arial"/>
              </a:rPr>
              <a:t>A proposed distinction to validate with customers</a:t>
            </a:r>
          </a:p>
        </p:txBody>
      </p:sp>
    </p:spTree>
    <p:extLst>
      <p:ext uri="{BB962C8B-B14F-4D97-AF65-F5344CB8AC3E}">
        <p14:creationId xmlns:p14="http://schemas.microsoft.com/office/powerpoint/2010/main" val="692297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rganizations pay for better recruitment">
            <a:extLst xmlns:a="http://schemas.openxmlformats.org/drawingml/2006/main">
              <a:ext uri="{FF2B5EF4-FFF2-40B4-BE49-F238E27FC236}">
                <a16:creationId xmlns:a16="http://schemas.microsoft.com/office/drawing/2014/main" id="{DC22BCE8-2FA2-4498-A64F-DF05587E2280}"/>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72335"/>
                </a:solidFill>
                <a:latin typeface="Arial"/>
                <a:ea typeface="Arial"/>
                <a:cs typeface="Arial"/>
              </a:defRPr>
            </a:pPr>
            <a:r>
              <a:rPr sz="3525" b="1">
                <a:solidFill>
                  <a:srgbClr val="172335"/>
                </a:solidFill>
                <a:latin typeface="Arial"/>
                <a:ea typeface="Arial"/>
                <a:cs typeface="Arial"/>
              </a:rPr>
              <a:t>Organizations pay for better recruitment</a:t>
            </a:r>
          </a:p>
        </p:txBody>
      </p:sp>
      <p:sp>
        <p:nvSpPr>
          <p:cNvPr id="2" name="€149">
            <a:extLst xmlns:a="http://schemas.openxmlformats.org/drawingml/2006/main">
              <a:ext uri="{FF2B5EF4-FFF2-40B4-BE49-F238E27FC236}">
                <a16:creationId xmlns:a16="http://schemas.microsoft.com/office/drawing/2014/main" id="{A6B6E2F9-5878-4B2E-9172-91458E11789C}"/>
              </a:ext>
            </a:extLst>
          </p:cNvPr>
          <p:cNvSpPr>
            <a:spLocks xmlns:a="http://schemas.openxmlformats.org/drawingml/2006/main" noGrp="1"/>
          </p:cNvSpPr>
          <p:nvPr/>
        </p:nvSpPr>
        <p:spPr>
          <a:xfrm xmlns:a="http://schemas.openxmlformats.org/drawingml/2006/main">
            <a:off x="628650" y="171450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050" b="1">
                <a:solidFill>
                  <a:srgbClr val="185ABC"/>
                </a:solidFill>
                <a:latin typeface="Arial"/>
                <a:ea typeface="Arial"/>
                <a:cs typeface="Arial"/>
              </a:defRPr>
            </a:pPr>
            <a:r>
              <a:rPr sz="7050" b="1">
                <a:solidFill>
                  <a:srgbClr val="185ABC"/>
                </a:solidFill>
                <a:latin typeface="Arial"/>
                <a:ea typeface="Arial"/>
                <a:cs typeface="Arial"/>
              </a:rPr>
              <a:t>€149</a:t>
            </a:r>
          </a:p>
        </p:txBody>
      </p:sp>
      <p:sp>
        <p:nvSpPr>
          <p:cNvPr id="3" name="Illustrative event package, up to 200 people">
            <a:extLst xmlns:a="http://schemas.openxmlformats.org/drawingml/2006/main">
              <a:ext uri="{FF2B5EF4-FFF2-40B4-BE49-F238E27FC236}">
                <a16:creationId xmlns:a16="http://schemas.microsoft.com/office/drawing/2014/main" id="{8B888D1A-87E0-4D96-BB7F-9B7FEC3CDF31}"/>
              </a:ext>
            </a:extLst>
          </p:cNvPr>
          <p:cNvSpPr>
            <a:spLocks xmlns:a="http://schemas.openxmlformats.org/drawingml/2006/main" noGrp="1"/>
          </p:cNvSpPr>
          <p:nvPr/>
        </p:nvSpPr>
        <p:spPr>
          <a:xfrm xmlns:a="http://schemas.openxmlformats.org/drawingml/2006/main">
            <a:off x="4953000" y="1895475"/>
            <a:ext cx="647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72335"/>
                </a:solidFill>
                <a:latin typeface="Arial"/>
                <a:ea typeface="Arial"/>
                <a:cs typeface="Arial"/>
              </a:defRPr>
            </a:pPr>
            <a:r>
              <a:rPr sz="2250" b="0">
                <a:solidFill>
                  <a:srgbClr val="172335"/>
                </a:solidFill>
                <a:latin typeface="Arial"/>
                <a:ea typeface="Arial"/>
                <a:cs typeface="Arial"/>
              </a:rPr>
              <a:t>Illustrative event package, up to 200 people</a:t>
            </a:r>
          </a:p>
        </p:txBody>
      </p:sp>
      <p:sp>
        <p:nvSpPr>
          <p:cNvPr id="4" name="20 organizations × 6 events × €149&#10;€17,880 an">
            <a:extLst xmlns:a="http://schemas.openxmlformats.org/drawingml/2006/main">
              <a:ext uri="{FF2B5EF4-FFF2-40B4-BE49-F238E27FC236}">
                <a16:creationId xmlns:a16="http://schemas.microsoft.com/office/drawing/2014/main" id="{EBDF1C91-6E22-4030-9C29-DFAD77327D9B}"/>
              </a:ext>
            </a:extLst>
          </p:cNvPr>
          <p:cNvSpPr>
            <a:spLocks xmlns:a="http://schemas.openxmlformats.org/drawingml/2006/main" noGrp="1"/>
          </p:cNvSpPr>
          <p:nvPr/>
        </p:nvSpPr>
        <p:spPr>
          <a:xfrm xmlns:a="http://schemas.openxmlformats.org/drawingml/2006/main">
            <a:off x="628650" y="32385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0">
                <a:solidFill>
                  <a:srgbClr val="172335"/>
                </a:solidFill>
                <a:latin typeface="Arial"/>
                <a:ea typeface="Arial"/>
                <a:cs typeface="Arial"/>
              </a:defRPr>
            </a:pPr>
            <a:r>
              <a:rPr sz="2625" b="0">
                <a:solidFill>
                  <a:srgbClr val="172335"/>
                </a:solidFill>
                <a:latin typeface="Arial"/>
                <a:ea typeface="Arial"/>
                <a:cs typeface="Arial"/>
              </a:rPr>
              <a:t>20 organizations × 6 events × €149</a:t>
            </a:r>
          </a:p>
          <a:p xmlns:a="http://schemas.openxmlformats.org/drawingml/2006/main">
            <a:pPr>
              <a:defRPr sz="2625" b="0">
                <a:solidFill>
                  <a:srgbClr val="172335"/>
                </a:solidFill>
                <a:latin typeface="Arial"/>
                <a:ea typeface="Arial"/>
                <a:cs typeface="Arial"/>
              </a:defRPr>
            </a:pPr>
            <a:r>
              <a:rPr sz="2625" b="0">
                <a:solidFill>
                  <a:srgbClr val="172335"/>
                </a:solidFill>
                <a:latin typeface="Arial"/>
                <a:ea typeface="Arial"/>
                <a:cs typeface="Arial"/>
              </a:rPr>
              <a:t>€17,880 annual gross revenue</a:t>
            </a:r>
          </a:p>
        </p:txBody>
      </p:sp>
      <p:sp>
        <p:nvSpPr>
          <p:cNvPr id="5" name="Costs: inference, hosting, support, acquisiti">
            <a:extLst xmlns:a="http://schemas.openxmlformats.org/drawingml/2006/main">
              <a:ext uri="{FF2B5EF4-FFF2-40B4-BE49-F238E27FC236}">
                <a16:creationId xmlns:a16="http://schemas.microsoft.com/office/drawing/2014/main" id="{958D8C12-E400-4F8D-9417-57ACCE6BF8D7}"/>
              </a:ext>
            </a:extLst>
          </p:cNvPr>
          <p:cNvSpPr>
            <a:spLocks xmlns:a="http://schemas.openxmlformats.org/drawingml/2006/main" noGrp="1"/>
          </p:cNvSpPr>
          <p:nvPr/>
        </p:nvSpPr>
        <p:spPr>
          <a:xfrm xmlns:a="http://schemas.openxmlformats.org/drawingml/2006/main">
            <a:off x="628650" y="500062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526274"/>
                </a:solidFill>
                <a:latin typeface="Arial"/>
                <a:ea typeface="Arial"/>
                <a:cs typeface="Arial"/>
              </a:defRPr>
            </a:pPr>
            <a:r>
              <a:rPr sz="2025" b="0">
                <a:solidFill>
                  <a:srgbClr val="526274"/>
                </a:solidFill>
                <a:latin typeface="Arial"/>
                <a:ea typeface="Arial"/>
                <a:cs typeface="Arial"/>
              </a:rPr>
              <a:t>Costs: inference, hosting, support, acquisition and engineering</a:t>
            </a:r>
          </a:p>
        </p:txBody>
      </p:sp>
      <p:sp>
        <p:nvSpPr>
          <p:cNvPr id="6" name="Pricing and volume are hypotheses. Revenue is">
            <a:extLst xmlns:a="http://schemas.openxmlformats.org/drawingml/2006/main">
              <a:ext uri="{FF2B5EF4-FFF2-40B4-BE49-F238E27FC236}">
                <a16:creationId xmlns:a16="http://schemas.microsoft.com/office/drawing/2014/main" id="{A253B3AA-148F-4548-B78F-78AE4B561C98}"/>
              </a:ext>
            </a:extLst>
          </p:cNvPr>
          <p:cNvSpPr>
            <a:spLocks xmlns:a="http://schemas.openxmlformats.org/drawingml/2006/main" noGrp="1"/>
          </p:cNvSpPr>
          <p:nvPr/>
        </p:nvSpPr>
        <p:spPr>
          <a:xfrm xmlns:a="http://schemas.openxmlformats.org/drawingml/2006/main">
            <a:off x="628650" y="61055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B3261E"/>
                </a:solidFill>
                <a:latin typeface="Arial"/>
                <a:ea typeface="Arial"/>
                <a:cs typeface="Arial"/>
              </a:defRPr>
            </a:pPr>
            <a:r>
              <a:rPr sz="1800" b="1">
                <a:solidFill>
                  <a:srgbClr val="B3261E"/>
                </a:solidFill>
                <a:latin typeface="Arial"/>
                <a:ea typeface="Arial"/>
                <a:cs typeface="Arial"/>
              </a:rPr>
              <a:t>Pricing and volume are hypotheses. Revenue is not profit or traction.</a:t>
            </a:r>
          </a:p>
        </p:txBody>
      </p:sp>
    </p:spTree>
    <p:extLst>
      <p:ext uri="{BB962C8B-B14F-4D97-AF65-F5344CB8AC3E}">
        <p14:creationId xmlns:p14="http://schemas.microsoft.com/office/powerpoint/2010/main" val="5439233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A focused start, then wider communities">
            <a:extLst xmlns:a="http://schemas.openxmlformats.org/drawingml/2006/main">
              <a:ext uri="{FF2B5EF4-FFF2-40B4-BE49-F238E27FC236}">
                <a16:creationId xmlns:a16="http://schemas.microsoft.com/office/drawing/2014/main" id="{DDB8825E-4211-4D09-8CB5-C8160024DB41}"/>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72335"/>
                </a:solidFill>
                <a:latin typeface="Arial"/>
                <a:ea typeface="Arial"/>
                <a:cs typeface="Arial"/>
              </a:defRPr>
            </a:pPr>
            <a:r>
              <a:rPr sz="3525" b="1">
                <a:solidFill>
                  <a:srgbClr val="172335"/>
                </a:solidFill>
                <a:latin typeface="Arial"/>
                <a:ea typeface="Arial"/>
                <a:cs typeface="Arial"/>
              </a:rPr>
              <a:t>A focused start, then wider communities</a:t>
            </a:r>
          </a:p>
        </p:txBody>
      </p:sp>
      <p:sp>
        <p:nvSpPr>
          <p:cNvPr id="2" name="First: recurring professional and educational">
            <a:extLst xmlns:a="http://schemas.openxmlformats.org/drawingml/2006/main">
              <a:ext uri="{FF2B5EF4-FFF2-40B4-BE49-F238E27FC236}">
                <a16:creationId xmlns:a16="http://schemas.microsoft.com/office/drawing/2014/main" id="{DD7974ED-EA9D-4AAD-9537-1E2695D43084}"/>
              </a:ext>
            </a:extLst>
          </p:cNvPr>
          <p:cNvSpPr>
            <a:spLocks xmlns:a="http://schemas.openxmlformats.org/drawingml/2006/main" noGrp="1"/>
          </p:cNvSpPr>
          <p:nvPr/>
        </p:nvSpPr>
        <p:spPr>
          <a:xfrm xmlns:a="http://schemas.openxmlformats.org/drawingml/2006/main">
            <a:off x="628650" y="2181225"/>
            <a:ext cx="10953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0">
                <a:solidFill>
                  <a:srgbClr val="172335"/>
                </a:solidFill>
                <a:latin typeface="Arial"/>
                <a:ea typeface="Arial"/>
                <a:cs typeface="Arial"/>
              </a:defRPr>
            </a:pPr>
            <a:r>
              <a:rPr sz="3000" b="0">
                <a:solidFill>
                  <a:srgbClr val="172335"/>
                </a:solidFill>
                <a:latin typeface="Arial"/>
                <a:ea typeface="Arial"/>
                <a:cs typeface="Arial"/>
              </a:rPr>
              <a:t>First: recurring professional and educational events</a:t>
            </a:r>
          </a:p>
          <a:p xmlns:a="http://schemas.openxmlformats.org/drawingml/2006/main">
            <a:r>
              <a:t/>
            </a:r>
          </a:p>
          <a:p xmlns:a="http://schemas.openxmlformats.org/drawingml/2006/main">
            <a:pPr>
              <a:defRPr sz="3000" b="0">
                <a:solidFill>
                  <a:srgbClr val="172335"/>
                </a:solidFill>
                <a:latin typeface="Arial"/>
                <a:ea typeface="Arial"/>
                <a:cs typeface="Arial"/>
              </a:defRPr>
            </a:pPr>
            <a:r>
              <a:rPr sz="3000" b="0">
                <a:solidFill>
                  <a:srgbClr val="172335"/>
                </a:solidFill>
                <a:latin typeface="Arial"/>
                <a:ea typeface="Arial"/>
                <a:cs typeface="Arial"/>
              </a:rPr>
              <a:t>Next: neighboring communities, languages and regions</a:t>
            </a:r>
          </a:p>
        </p:txBody>
      </p:sp>
      <p:sp>
        <p:nvSpPr>
          <p:cNvPr id="3" name="Next milestone: a real organizer pilot">
            <a:extLst xmlns:a="http://schemas.openxmlformats.org/drawingml/2006/main">
              <a:ext uri="{FF2B5EF4-FFF2-40B4-BE49-F238E27FC236}">
                <a16:creationId xmlns:a16="http://schemas.microsoft.com/office/drawing/2014/main" id="{857E6E50-4011-473A-8B8C-238957859EDC}"/>
              </a:ext>
            </a:extLst>
          </p:cNvPr>
          <p:cNvSpPr>
            <a:spLocks xmlns:a="http://schemas.openxmlformats.org/drawingml/2006/main" noGrp="1"/>
          </p:cNvSpPr>
          <p:nvPr/>
        </p:nvSpPr>
        <p:spPr>
          <a:xfrm xmlns:a="http://schemas.openxmlformats.org/drawingml/2006/main">
            <a:off x="628650" y="58864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85ABC"/>
                </a:solidFill>
                <a:latin typeface="Arial"/>
                <a:ea typeface="Arial"/>
                <a:cs typeface="Arial"/>
              </a:defRPr>
            </a:pPr>
            <a:r>
              <a:rPr sz="2325" b="1">
                <a:solidFill>
                  <a:srgbClr val="185ABC"/>
                </a:solidFill>
                <a:latin typeface="Arial"/>
                <a:ea typeface="Arial"/>
                <a:cs typeface="Arial"/>
              </a:rPr>
              <a:t>Next milestone: a real organizer pilot</a:t>
            </a:r>
          </a:p>
        </p:txBody>
      </p:sp>
    </p:spTree>
    <p:extLst>
      <p:ext uri="{BB962C8B-B14F-4D97-AF65-F5344CB8AC3E}">
        <p14:creationId xmlns:p14="http://schemas.microsoft.com/office/powerpoint/2010/main" val="4846019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he right fit creates the next opportunity">
            <a:extLst xmlns:a="http://schemas.openxmlformats.org/drawingml/2006/main">
              <a:ext uri="{FF2B5EF4-FFF2-40B4-BE49-F238E27FC236}">
                <a16:creationId xmlns:a16="http://schemas.microsoft.com/office/drawing/2014/main" id="{CB9E6F5B-F83F-4124-BA3D-A31432894430}"/>
              </a:ext>
            </a:extLst>
          </p:cNvPr>
          <p:cNvSpPr>
            <a:spLocks xmlns:a="http://schemas.openxmlformats.org/drawingml/2006/main" noGrp="1"/>
          </p:cNvSpPr>
          <p:nvPr/>
        </p:nvSpPr>
        <p:spPr>
          <a:xfrm xmlns:a="http://schemas.openxmlformats.org/drawingml/2006/main">
            <a:off x="609600" y="4381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72335"/>
                </a:solidFill>
                <a:latin typeface="Arial"/>
                <a:ea typeface="Arial"/>
                <a:cs typeface="Arial"/>
              </a:defRPr>
            </a:pPr>
            <a:r>
              <a:rPr sz="3525" b="1">
                <a:solidFill>
                  <a:srgbClr val="172335"/>
                </a:solidFill>
                <a:latin typeface="Arial"/>
                <a:ea typeface="Arial"/>
                <a:cs typeface="Arial"/>
              </a:rPr>
              <a:t>The right fit creates the next opportunity</a:t>
            </a:r>
          </a:p>
        </p:txBody>
      </p:sp>
      <p:sp>
        <p:nvSpPr>
          <p:cNvPr id="2" name="GEvents&#10;Matching people and events in both di">
            <a:extLst xmlns:a="http://schemas.openxmlformats.org/drawingml/2006/main">
              <a:ext uri="{FF2B5EF4-FFF2-40B4-BE49-F238E27FC236}">
                <a16:creationId xmlns:a16="http://schemas.microsoft.com/office/drawing/2014/main" id="{3DD46808-D85E-4224-AD7C-962E1CA4C543}"/>
              </a:ext>
            </a:extLst>
          </p:cNvPr>
          <p:cNvSpPr>
            <a:spLocks xmlns:a="http://schemas.openxmlformats.org/drawingml/2006/main" noGrp="1"/>
          </p:cNvSpPr>
          <p:nvPr/>
        </p:nvSpPr>
        <p:spPr>
          <a:xfrm xmlns:a="http://schemas.openxmlformats.org/drawingml/2006/main">
            <a:off x="628650" y="2333625"/>
            <a:ext cx="1095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425" b="1">
                <a:solidFill>
                  <a:srgbClr val="172335"/>
                </a:solidFill>
                <a:latin typeface="Arial"/>
                <a:ea typeface="Arial"/>
                <a:cs typeface="Arial"/>
              </a:defRPr>
            </a:pPr>
            <a:r>
              <a:rPr sz="4425" b="1">
                <a:solidFill>
                  <a:srgbClr val="172335"/>
                </a:solidFill>
                <a:latin typeface="Arial"/>
                <a:ea typeface="Arial"/>
                <a:cs typeface="Arial"/>
              </a:rPr>
              <a:t>GEvents</a:t>
            </a:r>
          </a:p>
          <a:p xmlns:a="http://schemas.openxmlformats.org/drawingml/2006/main">
            <a:pPr>
              <a:defRPr sz="4425" b="1">
                <a:solidFill>
                  <a:srgbClr val="172335"/>
                </a:solidFill>
                <a:latin typeface="Arial"/>
                <a:ea typeface="Arial"/>
                <a:cs typeface="Arial"/>
              </a:defRPr>
            </a:pPr>
            <a:r>
              <a:rPr sz="4425" b="1">
                <a:solidFill>
                  <a:srgbClr val="172335"/>
                </a:solidFill>
                <a:latin typeface="Arial"/>
                <a:ea typeface="Arial"/>
                <a:cs typeface="Arial"/>
              </a:rPr>
              <a:t>Matching people and events in both directions</a:t>
            </a:r>
          </a:p>
        </p:txBody>
      </p:sp>
      <p:sp>
        <p:nvSpPr>
          <p:cNvPr id="3" name="Our next step is to prove the value with orga">
            <a:extLst xmlns:a="http://schemas.openxmlformats.org/drawingml/2006/main">
              <a:ext uri="{FF2B5EF4-FFF2-40B4-BE49-F238E27FC236}">
                <a16:creationId xmlns:a16="http://schemas.microsoft.com/office/drawing/2014/main" id="{43BC2D82-7A60-47C2-AEE6-41E9A380DD87}"/>
              </a:ext>
            </a:extLst>
          </p:cNvPr>
          <p:cNvSpPr>
            <a:spLocks xmlns:a="http://schemas.openxmlformats.org/drawingml/2006/main" noGrp="1"/>
          </p:cNvSpPr>
          <p:nvPr/>
        </p:nvSpPr>
        <p:spPr>
          <a:xfrm xmlns:a="http://schemas.openxmlformats.org/drawingml/2006/main">
            <a:off x="628650" y="57340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5ABC"/>
                </a:solidFill>
                <a:latin typeface="Arial"/>
                <a:ea typeface="Arial"/>
                <a:cs typeface="Arial"/>
              </a:defRPr>
            </a:pPr>
            <a:r>
              <a:rPr sz="2175" b="0">
                <a:solidFill>
                  <a:srgbClr val="185ABC"/>
                </a:solidFill>
                <a:latin typeface="Arial"/>
                <a:ea typeface="Arial"/>
                <a:cs typeface="Arial"/>
              </a:rPr>
              <a:t>Our next step is to prove the value with organizers</a:t>
            </a:r>
          </a:p>
        </p:txBody>
      </p:sp>
    </p:spTree>
    <p:extLst>
      <p:ext uri="{BB962C8B-B14F-4D97-AF65-F5344CB8AC3E}">
        <p14:creationId xmlns:p14="http://schemas.microsoft.com/office/powerpoint/2010/main" val="11772236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Profile inputs">
            <a:extLst xmlns:a="http://schemas.openxmlformats.org/drawingml/2006/main">
              <a:ext uri="{FF2B5EF4-FFF2-40B4-BE49-F238E27FC236}">
                <a16:creationId xmlns:a16="http://schemas.microsoft.com/office/drawing/2014/main" id="{68431657-1350-4C69-A292-47492429354C}"/>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72335"/>
                </a:solidFill>
                <a:latin typeface="Arial"/>
                <a:ea typeface="Arial"/>
                <a:cs typeface="Arial"/>
              </a:defRPr>
            </a:pPr>
            <a:r>
              <a:rPr sz="3525" b="1">
                <a:solidFill>
                  <a:srgbClr val="172335"/>
                </a:solidFill>
                <a:latin typeface="Arial"/>
                <a:ea typeface="Arial"/>
                <a:cs typeface="Arial"/>
              </a:rPr>
              <a:t>Profile inputs</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b9789b673ecf44a5"/>
          <a:stretch xmlns:a="http://schemas.openxmlformats.org/drawingml/2006/main"/>
        </p:blipFill>
        <p:spPr>
          <a:xfrm xmlns:a="http://schemas.openxmlformats.org/drawingml/2006/main">
            <a:off x="1813560" y="1285875"/>
            <a:ext cx="8564880" cy="5353050"/>
          </a:xfrm>
          <a:prstGeom xmlns:a="http://schemas.openxmlformats.org/drawingml/2006/main" prst="rect">
            <a:avLst/>
          </a:prstGeom>
        </p:spPr>
      </p:pic>
    </p:spTree>
    <p:extLst>
      <p:ext uri="{BB962C8B-B14F-4D97-AF65-F5344CB8AC3E}">
        <p14:creationId xmlns:p14="http://schemas.microsoft.com/office/powerpoint/2010/main" val="9753031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Recommendation evidence">
            <a:extLst xmlns:a="http://schemas.openxmlformats.org/drawingml/2006/main">
              <a:ext uri="{FF2B5EF4-FFF2-40B4-BE49-F238E27FC236}">
                <a16:creationId xmlns:a16="http://schemas.microsoft.com/office/drawing/2014/main" id="{40D3D49C-AFCC-48D0-95DD-4D5C8C2B43A5}"/>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72335"/>
                </a:solidFill>
                <a:latin typeface="Arial"/>
                <a:ea typeface="Arial"/>
                <a:cs typeface="Arial"/>
              </a:defRPr>
            </a:pPr>
            <a:r>
              <a:rPr sz="3525" b="1">
                <a:solidFill>
                  <a:srgbClr val="172335"/>
                </a:solidFill>
                <a:latin typeface="Arial"/>
                <a:ea typeface="Arial"/>
                <a:cs typeface="Arial"/>
              </a:rPr>
              <a:t>Recommendation evidence</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c723e59278014bd7"/>
          <a:stretch xmlns:a="http://schemas.openxmlformats.org/drawingml/2006/main"/>
        </p:blipFill>
        <p:spPr>
          <a:xfrm xmlns:a="http://schemas.openxmlformats.org/drawingml/2006/main">
            <a:off x="1813560" y="1285875"/>
            <a:ext cx="8564880" cy="5353050"/>
          </a:xfrm>
          <a:prstGeom xmlns:a="http://schemas.openxmlformats.org/drawingml/2006/main" prst="rect">
            <a:avLst/>
          </a:prstGeom>
        </p:spPr>
      </p:pic>
    </p:spTree>
    <p:extLst>
      <p:ext uri="{BB962C8B-B14F-4D97-AF65-F5344CB8AC3E}">
        <p14:creationId xmlns:p14="http://schemas.microsoft.com/office/powerpoint/2010/main" val="13823839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Organizer decisions">
            <a:extLst xmlns:a="http://schemas.openxmlformats.org/drawingml/2006/main">
              <a:ext uri="{FF2B5EF4-FFF2-40B4-BE49-F238E27FC236}">
                <a16:creationId xmlns:a16="http://schemas.microsoft.com/office/drawing/2014/main" id="{C10CEFC7-C9AB-4846-B67A-547B36A5DAF2}"/>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72335"/>
                </a:solidFill>
                <a:latin typeface="Arial"/>
                <a:ea typeface="Arial"/>
                <a:cs typeface="Arial"/>
              </a:defRPr>
            </a:pPr>
            <a:r>
              <a:rPr sz="3525" b="1">
                <a:solidFill>
                  <a:srgbClr val="172335"/>
                </a:solidFill>
                <a:latin typeface="Arial"/>
                <a:ea typeface="Arial"/>
                <a:cs typeface="Arial"/>
              </a:rPr>
              <a:t>Organizer decisions</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d5f5b12aac0a4821"/>
          <a:stretch xmlns:a="http://schemas.openxmlformats.org/drawingml/2006/main"/>
        </p:blipFill>
        <p:spPr>
          <a:xfrm xmlns:a="http://schemas.openxmlformats.org/drawingml/2006/main">
            <a:off x="1813560" y="1285875"/>
            <a:ext cx="8564880" cy="5353050"/>
          </a:xfrm>
          <a:prstGeom xmlns:a="http://schemas.openxmlformats.org/drawingml/2006/main" prst="rect">
            <a:avLst/>
          </a:prstGeom>
        </p:spPr>
      </p:pic>
    </p:spTree>
    <p:extLst>
      <p:ext uri="{BB962C8B-B14F-4D97-AF65-F5344CB8AC3E}">
        <p14:creationId xmlns:p14="http://schemas.microsoft.com/office/powerpoint/2010/main" val="20037622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2026-10-11T09:13:06.3370000Z</dcterms:created>
  <dcterms:modified xsi:type="dcterms:W3CDTF">2026-10-11T09:13:06.3380000Z</dcterms:modified>
</coreProperties>
</file>